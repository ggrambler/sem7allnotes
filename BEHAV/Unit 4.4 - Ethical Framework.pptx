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19"/>
  </p:notesMasterIdLst>
  <p:sldIdLst>
    <p:sldId id="256" r:id="rId3"/>
    <p:sldId id="301" r:id="rId4"/>
    <p:sldId id="303" r:id="rId5"/>
    <p:sldId id="257" r:id="rId6"/>
    <p:sldId id="1319" r:id="rId7"/>
    <p:sldId id="269" r:id="rId8"/>
    <p:sldId id="1326" r:id="rId9"/>
    <p:sldId id="1327" r:id="rId10"/>
    <p:sldId id="1328" r:id="rId11"/>
    <p:sldId id="1320" r:id="rId12"/>
    <p:sldId id="267" r:id="rId13"/>
    <p:sldId id="1324" r:id="rId14"/>
    <p:sldId id="1322" r:id="rId15"/>
    <p:sldId id="1323" r:id="rId16"/>
    <p:sldId id="1325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2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58E2D4-BD9D-4AD8-9C55-F418933DE3D4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A142A1-C379-4195-A773-F35505A4EDFD}">
      <dgm:prSet/>
      <dgm:spPr/>
      <dgm:t>
        <a:bodyPr/>
        <a:lstStyle/>
        <a:p>
          <a:r>
            <a:rPr lang="en-US" dirty="0"/>
            <a:t>Family &amp; Childhood </a:t>
          </a:r>
        </a:p>
      </dgm:t>
    </dgm:pt>
    <dgm:pt modelId="{C702AB59-D17D-4995-A078-D9D1EFBA70C4}" type="parTrans" cxnId="{E1FC7648-D5A1-4558-A421-38194A82086D}">
      <dgm:prSet/>
      <dgm:spPr/>
      <dgm:t>
        <a:bodyPr/>
        <a:lstStyle/>
        <a:p>
          <a:endParaRPr lang="en-US"/>
        </a:p>
      </dgm:t>
    </dgm:pt>
    <dgm:pt modelId="{B4589078-0368-4E38-BB2F-FFA2C394CBAE}" type="sibTrans" cxnId="{E1FC7648-D5A1-4558-A421-38194A82086D}">
      <dgm:prSet/>
      <dgm:spPr/>
      <dgm:t>
        <a:bodyPr/>
        <a:lstStyle/>
        <a:p>
          <a:endParaRPr lang="en-US"/>
        </a:p>
      </dgm:t>
    </dgm:pt>
    <dgm:pt modelId="{B8F1BDE9-06F1-4FF1-81AF-3737C5A59695}">
      <dgm:prSet/>
      <dgm:spPr/>
      <dgm:t>
        <a:bodyPr/>
        <a:lstStyle/>
        <a:p>
          <a:r>
            <a:rPr lang="en-US"/>
            <a:t>Value system </a:t>
          </a:r>
        </a:p>
      </dgm:t>
    </dgm:pt>
    <dgm:pt modelId="{88475D0A-48D3-4E22-BE8C-DBF89D87AF61}" type="parTrans" cxnId="{E751B204-396D-4BED-B749-609E95775E3A}">
      <dgm:prSet/>
      <dgm:spPr/>
      <dgm:t>
        <a:bodyPr/>
        <a:lstStyle/>
        <a:p>
          <a:endParaRPr lang="en-US"/>
        </a:p>
      </dgm:t>
    </dgm:pt>
    <dgm:pt modelId="{BDDB862C-1D79-41AA-B7C5-2AF8531AD968}" type="sibTrans" cxnId="{E751B204-396D-4BED-B749-609E95775E3A}">
      <dgm:prSet/>
      <dgm:spPr/>
      <dgm:t>
        <a:bodyPr/>
        <a:lstStyle/>
        <a:p>
          <a:endParaRPr lang="en-US"/>
        </a:p>
      </dgm:t>
    </dgm:pt>
    <dgm:pt modelId="{5BC6F754-5DEE-4493-985E-B6E4DBDE11F5}">
      <dgm:prSet/>
      <dgm:spPr/>
      <dgm:t>
        <a:bodyPr/>
        <a:lstStyle/>
        <a:p>
          <a:r>
            <a:rPr lang="en-US"/>
            <a:t>Relationships</a:t>
          </a:r>
        </a:p>
      </dgm:t>
    </dgm:pt>
    <dgm:pt modelId="{8935CB29-36C3-4C30-BDA9-857901A0ECFB}" type="parTrans" cxnId="{632A397F-917B-4873-9DA0-723DCBAD772F}">
      <dgm:prSet/>
      <dgm:spPr/>
      <dgm:t>
        <a:bodyPr/>
        <a:lstStyle/>
        <a:p>
          <a:endParaRPr lang="en-US"/>
        </a:p>
      </dgm:t>
    </dgm:pt>
    <dgm:pt modelId="{789E77AB-E4EE-4BE6-8111-FC59D5A49EAC}" type="sibTrans" cxnId="{632A397F-917B-4873-9DA0-723DCBAD772F}">
      <dgm:prSet/>
      <dgm:spPr/>
      <dgm:t>
        <a:bodyPr/>
        <a:lstStyle/>
        <a:p>
          <a:endParaRPr lang="en-US"/>
        </a:p>
      </dgm:t>
    </dgm:pt>
    <dgm:pt modelId="{3CC4FF43-5C4B-4D21-9592-84D40EFE0E0D}">
      <dgm:prSet/>
      <dgm:spPr/>
      <dgm:t>
        <a:bodyPr/>
        <a:lstStyle/>
        <a:p>
          <a:r>
            <a:rPr lang="en-US"/>
            <a:t>Common Sense. </a:t>
          </a:r>
        </a:p>
      </dgm:t>
    </dgm:pt>
    <dgm:pt modelId="{148529A7-0FC1-41C6-B34E-6DC695ED0670}" type="parTrans" cxnId="{D745A5B0-487F-4567-BA3B-2E1FE4AD8D3D}">
      <dgm:prSet/>
      <dgm:spPr/>
      <dgm:t>
        <a:bodyPr/>
        <a:lstStyle/>
        <a:p>
          <a:endParaRPr lang="en-US"/>
        </a:p>
      </dgm:t>
    </dgm:pt>
    <dgm:pt modelId="{EB580794-9D28-423E-AFB4-DA808C48F739}" type="sibTrans" cxnId="{D745A5B0-487F-4567-BA3B-2E1FE4AD8D3D}">
      <dgm:prSet/>
      <dgm:spPr/>
      <dgm:t>
        <a:bodyPr/>
        <a:lstStyle/>
        <a:p>
          <a:endParaRPr lang="en-US"/>
        </a:p>
      </dgm:t>
    </dgm:pt>
    <dgm:pt modelId="{CB7CC9C3-AF8B-41B1-BDF4-ED5324D60723}">
      <dgm:prSet/>
      <dgm:spPr/>
      <dgm:t>
        <a:bodyPr/>
        <a:lstStyle/>
        <a:p>
          <a:r>
            <a:rPr lang="en-US"/>
            <a:t>Environment </a:t>
          </a:r>
        </a:p>
      </dgm:t>
    </dgm:pt>
    <dgm:pt modelId="{C66E68E4-6FD0-4C45-8F70-B763B77D3F8F}" type="parTrans" cxnId="{F2D712FE-41AF-4B8C-8FD5-F01C74C5854F}">
      <dgm:prSet/>
      <dgm:spPr/>
      <dgm:t>
        <a:bodyPr/>
        <a:lstStyle/>
        <a:p>
          <a:endParaRPr lang="en-US"/>
        </a:p>
      </dgm:t>
    </dgm:pt>
    <dgm:pt modelId="{1956236A-C002-4DA7-A706-D13FE96125F7}" type="sibTrans" cxnId="{F2D712FE-41AF-4B8C-8FD5-F01C74C5854F}">
      <dgm:prSet/>
      <dgm:spPr/>
      <dgm:t>
        <a:bodyPr/>
        <a:lstStyle/>
        <a:p>
          <a:endParaRPr lang="en-US"/>
        </a:p>
      </dgm:t>
    </dgm:pt>
    <dgm:pt modelId="{608BD303-B317-48B2-AA4E-8F06CAAFC5A6}" type="pres">
      <dgm:prSet presAssocID="{0158E2D4-BD9D-4AD8-9C55-F418933DE3D4}" presName="diagram" presStyleCnt="0">
        <dgm:presLayoutVars>
          <dgm:dir/>
          <dgm:resizeHandles val="exact"/>
        </dgm:presLayoutVars>
      </dgm:prSet>
      <dgm:spPr/>
    </dgm:pt>
    <dgm:pt modelId="{40E2F68E-4699-45EA-BC35-A03E55C83894}" type="pres">
      <dgm:prSet presAssocID="{03A142A1-C379-4195-A773-F35505A4EDFD}" presName="node" presStyleLbl="node1" presStyleIdx="0" presStyleCnt="5">
        <dgm:presLayoutVars>
          <dgm:bulletEnabled val="1"/>
        </dgm:presLayoutVars>
      </dgm:prSet>
      <dgm:spPr/>
    </dgm:pt>
    <dgm:pt modelId="{56B64798-ED2D-45AB-9522-67601FF0686F}" type="pres">
      <dgm:prSet presAssocID="{B4589078-0368-4E38-BB2F-FFA2C394CBAE}" presName="sibTrans" presStyleCnt="0"/>
      <dgm:spPr/>
    </dgm:pt>
    <dgm:pt modelId="{453E55FD-323E-400A-B1A5-A1DB3B12E66D}" type="pres">
      <dgm:prSet presAssocID="{B8F1BDE9-06F1-4FF1-81AF-3737C5A59695}" presName="node" presStyleLbl="node1" presStyleIdx="1" presStyleCnt="5">
        <dgm:presLayoutVars>
          <dgm:bulletEnabled val="1"/>
        </dgm:presLayoutVars>
      </dgm:prSet>
      <dgm:spPr/>
    </dgm:pt>
    <dgm:pt modelId="{D97CA798-5D85-41E2-8938-9C6A9CA13AC0}" type="pres">
      <dgm:prSet presAssocID="{BDDB862C-1D79-41AA-B7C5-2AF8531AD968}" presName="sibTrans" presStyleCnt="0"/>
      <dgm:spPr/>
    </dgm:pt>
    <dgm:pt modelId="{5FD18E30-18C4-49F6-824A-8B10321C1A38}" type="pres">
      <dgm:prSet presAssocID="{5BC6F754-5DEE-4493-985E-B6E4DBDE11F5}" presName="node" presStyleLbl="node1" presStyleIdx="2" presStyleCnt="5">
        <dgm:presLayoutVars>
          <dgm:bulletEnabled val="1"/>
        </dgm:presLayoutVars>
      </dgm:prSet>
      <dgm:spPr/>
    </dgm:pt>
    <dgm:pt modelId="{09260714-54A1-45A3-B6E6-8882E637BFF7}" type="pres">
      <dgm:prSet presAssocID="{789E77AB-E4EE-4BE6-8111-FC59D5A49EAC}" presName="sibTrans" presStyleCnt="0"/>
      <dgm:spPr/>
    </dgm:pt>
    <dgm:pt modelId="{F9E3D278-D42D-49EC-A207-D51BDFCC4995}" type="pres">
      <dgm:prSet presAssocID="{3CC4FF43-5C4B-4D21-9592-84D40EFE0E0D}" presName="node" presStyleLbl="node1" presStyleIdx="3" presStyleCnt="5">
        <dgm:presLayoutVars>
          <dgm:bulletEnabled val="1"/>
        </dgm:presLayoutVars>
      </dgm:prSet>
      <dgm:spPr/>
    </dgm:pt>
    <dgm:pt modelId="{C019A013-992F-41FA-9636-5C4A52F69739}" type="pres">
      <dgm:prSet presAssocID="{EB580794-9D28-423E-AFB4-DA808C48F739}" presName="sibTrans" presStyleCnt="0"/>
      <dgm:spPr/>
    </dgm:pt>
    <dgm:pt modelId="{16B22D22-B028-44D1-80BE-3AE3D08370D2}" type="pres">
      <dgm:prSet presAssocID="{CB7CC9C3-AF8B-41B1-BDF4-ED5324D60723}" presName="node" presStyleLbl="node1" presStyleIdx="4" presStyleCnt="5">
        <dgm:presLayoutVars>
          <dgm:bulletEnabled val="1"/>
        </dgm:presLayoutVars>
      </dgm:prSet>
      <dgm:spPr/>
    </dgm:pt>
  </dgm:ptLst>
  <dgm:cxnLst>
    <dgm:cxn modelId="{E751B204-396D-4BED-B749-609E95775E3A}" srcId="{0158E2D4-BD9D-4AD8-9C55-F418933DE3D4}" destId="{B8F1BDE9-06F1-4FF1-81AF-3737C5A59695}" srcOrd="1" destOrd="0" parTransId="{88475D0A-48D3-4E22-BE8C-DBF89D87AF61}" sibTransId="{BDDB862C-1D79-41AA-B7C5-2AF8531AD968}"/>
    <dgm:cxn modelId="{4A9D8415-5BC4-431A-857E-445A8649BADE}" type="presOf" srcId="{5BC6F754-5DEE-4493-985E-B6E4DBDE11F5}" destId="{5FD18E30-18C4-49F6-824A-8B10321C1A38}" srcOrd="0" destOrd="0" presId="urn:microsoft.com/office/officeart/2005/8/layout/default"/>
    <dgm:cxn modelId="{904EDB3F-0047-4398-8541-633D47C8DE3E}" type="presOf" srcId="{B8F1BDE9-06F1-4FF1-81AF-3737C5A59695}" destId="{453E55FD-323E-400A-B1A5-A1DB3B12E66D}" srcOrd="0" destOrd="0" presId="urn:microsoft.com/office/officeart/2005/8/layout/default"/>
    <dgm:cxn modelId="{D58DE05E-A345-4A66-B489-FBC4D3880778}" type="presOf" srcId="{0158E2D4-BD9D-4AD8-9C55-F418933DE3D4}" destId="{608BD303-B317-48B2-AA4E-8F06CAAFC5A6}" srcOrd="0" destOrd="0" presId="urn:microsoft.com/office/officeart/2005/8/layout/default"/>
    <dgm:cxn modelId="{E1FC7648-D5A1-4558-A421-38194A82086D}" srcId="{0158E2D4-BD9D-4AD8-9C55-F418933DE3D4}" destId="{03A142A1-C379-4195-A773-F35505A4EDFD}" srcOrd="0" destOrd="0" parTransId="{C702AB59-D17D-4995-A078-D9D1EFBA70C4}" sibTransId="{B4589078-0368-4E38-BB2F-FFA2C394CBAE}"/>
    <dgm:cxn modelId="{FFEC7876-E3FD-4FDE-8FAD-90D7E3403187}" type="presOf" srcId="{CB7CC9C3-AF8B-41B1-BDF4-ED5324D60723}" destId="{16B22D22-B028-44D1-80BE-3AE3D08370D2}" srcOrd="0" destOrd="0" presId="urn:microsoft.com/office/officeart/2005/8/layout/default"/>
    <dgm:cxn modelId="{632A397F-917B-4873-9DA0-723DCBAD772F}" srcId="{0158E2D4-BD9D-4AD8-9C55-F418933DE3D4}" destId="{5BC6F754-5DEE-4493-985E-B6E4DBDE11F5}" srcOrd="2" destOrd="0" parTransId="{8935CB29-36C3-4C30-BDA9-857901A0ECFB}" sibTransId="{789E77AB-E4EE-4BE6-8111-FC59D5A49EAC}"/>
    <dgm:cxn modelId="{D745A5B0-487F-4567-BA3B-2E1FE4AD8D3D}" srcId="{0158E2D4-BD9D-4AD8-9C55-F418933DE3D4}" destId="{3CC4FF43-5C4B-4D21-9592-84D40EFE0E0D}" srcOrd="3" destOrd="0" parTransId="{148529A7-0FC1-41C6-B34E-6DC695ED0670}" sibTransId="{EB580794-9D28-423E-AFB4-DA808C48F739}"/>
    <dgm:cxn modelId="{554EF5C0-BC0A-4DAC-ABB9-8809E01BB671}" type="presOf" srcId="{3CC4FF43-5C4B-4D21-9592-84D40EFE0E0D}" destId="{F9E3D278-D42D-49EC-A207-D51BDFCC4995}" srcOrd="0" destOrd="0" presId="urn:microsoft.com/office/officeart/2005/8/layout/default"/>
    <dgm:cxn modelId="{DD1853D0-E176-49E8-ABAC-5E050C07E0C0}" type="presOf" srcId="{03A142A1-C379-4195-A773-F35505A4EDFD}" destId="{40E2F68E-4699-45EA-BC35-A03E55C83894}" srcOrd="0" destOrd="0" presId="urn:microsoft.com/office/officeart/2005/8/layout/default"/>
    <dgm:cxn modelId="{F2D712FE-41AF-4B8C-8FD5-F01C74C5854F}" srcId="{0158E2D4-BD9D-4AD8-9C55-F418933DE3D4}" destId="{CB7CC9C3-AF8B-41B1-BDF4-ED5324D60723}" srcOrd="4" destOrd="0" parTransId="{C66E68E4-6FD0-4C45-8F70-B763B77D3F8F}" sibTransId="{1956236A-C002-4DA7-A706-D13FE96125F7}"/>
    <dgm:cxn modelId="{7850685E-D972-4C79-859B-DFA526872079}" type="presParOf" srcId="{608BD303-B317-48B2-AA4E-8F06CAAFC5A6}" destId="{40E2F68E-4699-45EA-BC35-A03E55C83894}" srcOrd="0" destOrd="0" presId="urn:microsoft.com/office/officeart/2005/8/layout/default"/>
    <dgm:cxn modelId="{D57FE986-ACD8-4D92-B0FD-38A3A76D4CE0}" type="presParOf" srcId="{608BD303-B317-48B2-AA4E-8F06CAAFC5A6}" destId="{56B64798-ED2D-45AB-9522-67601FF0686F}" srcOrd="1" destOrd="0" presId="urn:microsoft.com/office/officeart/2005/8/layout/default"/>
    <dgm:cxn modelId="{706D682C-1CEA-448E-BEE5-69AA4A264801}" type="presParOf" srcId="{608BD303-B317-48B2-AA4E-8F06CAAFC5A6}" destId="{453E55FD-323E-400A-B1A5-A1DB3B12E66D}" srcOrd="2" destOrd="0" presId="urn:microsoft.com/office/officeart/2005/8/layout/default"/>
    <dgm:cxn modelId="{E71A6895-B019-4D3F-BD43-3636E590542C}" type="presParOf" srcId="{608BD303-B317-48B2-AA4E-8F06CAAFC5A6}" destId="{D97CA798-5D85-41E2-8938-9C6A9CA13AC0}" srcOrd="3" destOrd="0" presId="urn:microsoft.com/office/officeart/2005/8/layout/default"/>
    <dgm:cxn modelId="{28DB3CA2-8A27-4B19-985B-CE1D0A9CF014}" type="presParOf" srcId="{608BD303-B317-48B2-AA4E-8F06CAAFC5A6}" destId="{5FD18E30-18C4-49F6-824A-8B10321C1A38}" srcOrd="4" destOrd="0" presId="urn:microsoft.com/office/officeart/2005/8/layout/default"/>
    <dgm:cxn modelId="{05BE90D4-56D4-4888-AC3C-4C31225770CB}" type="presParOf" srcId="{608BD303-B317-48B2-AA4E-8F06CAAFC5A6}" destId="{09260714-54A1-45A3-B6E6-8882E637BFF7}" srcOrd="5" destOrd="0" presId="urn:microsoft.com/office/officeart/2005/8/layout/default"/>
    <dgm:cxn modelId="{CF940B92-C69F-4B36-8FD6-335E48A32689}" type="presParOf" srcId="{608BD303-B317-48B2-AA4E-8F06CAAFC5A6}" destId="{F9E3D278-D42D-49EC-A207-D51BDFCC4995}" srcOrd="6" destOrd="0" presId="urn:microsoft.com/office/officeart/2005/8/layout/default"/>
    <dgm:cxn modelId="{62D640FB-438A-4E66-AC4F-8C8B3D5A3B6F}" type="presParOf" srcId="{608BD303-B317-48B2-AA4E-8F06CAAFC5A6}" destId="{C019A013-992F-41FA-9636-5C4A52F69739}" srcOrd="7" destOrd="0" presId="urn:microsoft.com/office/officeart/2005/8/layout/default"/>
    <dgm:cxn modelId="{925B7ACF-E192-4ED5-A788-F32FB3520BE7}" type="presParOf" srcId="{608BD303-B317-48B2-AA4E-8F06CAAFC5A6}" destId="{16B22D22-B028-44D1-80BE-3AE3D08370D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2F68E-4699-45EA-BC35-A03E55C83894}">
      <dsp:nvSpPr>
        <dsp:cNvPr id="0" name=""/>
        <dsp:cNvSpPr/>
      </dsp:nvSpPr>
      <dsp:spPr>
        <a:xfrm>
          <a:off x="472505" y="2282"/>
          <a:ext cx="2724677" cy="1634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Family &amp; Childhood </a:t>
          </a:r>
        </a:p>
      </dsp:txBody>
      <dsp:txXfrm>
        <a:off x="472505" y="2282"/>
        <a:ext cx="2724677" cy="1634806"/>
      </dsp:txXfrm>
    </dsp:sp>
    <dsp:sp modelId="{453E55FD-323E-400A-B1A5-A1DB3B12E66D}">
      <dsp:nvSpPr>
        <dsp:cNvPr id="0" name=""/>
        <dsp:cNvSpPr/>
      </dsp:nvSpPr>
      <dsp:spPr>
        <a:xfrm>
          <a:off x="3469650" y="2282"/>
          <a:ext cx="2724677" cy="16348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Value system </a:t>
          </a:r>
        </a:p>
      </dsp:txBody>
      <dsp:txXfrm>
        <a:off x="3469650" y="2282"/>
        <a:ext cx="2724677" cy="1634806"/>
      </dsp:txXfrm>
    </dsp:sp>
    <dsp:sp modelId="{5FD18E30-18C4-49F6-824A-8B10321C1A38}">
      <dsp:nvSpPr>
        <dsp:cNvPr id="0" name=""/>
        <dsp:cNvSpPr/>
      </dsp:nvSpPr>
      <dsp:spPr>
        <a:xfrm>
          <a:off x="472505" y="1909556"/>
          <a:ext cx="2724677" cy="163480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Relationships</a:t>
          </a:r>
        </a:p>
      </dsp:txBody>
      <dsp:txXfrm>
        <a:off x="472505" y="1909556"/>
        <a:ext cx="2724677" cy="1634806"/>
      </dsp:txXfrm>
    </dsp:sp>
    <dsp:sp modelId="{F9E3D278-D42D-49EC-A207-D51BDFCC4995}">
      <dsp:nvSpPr>
        <dsp:cNvPr id="0" name=""/>
        <dsp:cNvSpPr/>
      </dsp:nvSpPr>
      <dsp:spPr>
        <a:xfrm>
          <a:off x="3469650" y="1909556"/>
          <a:ext cx="2724677" cy="16348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Common Sense. </a:t>
          </a:r>
        </a:p>
      </dsp:txBody>
      <dsp:txXfrm>
        <a:off x="3469650" y="1909556"/>
        <a:ext cx="2724677" cy="1634806"/>
      </dsp:txXfrm>
    </dsp:sp>
    <dsp:sp modelId="{16B22D22-B028-44D1-80BE-3AE3D08370D2}">
      <dsp:nvSpPr>
        <dsp:cNvPr id="0" name=""/>
        <dsp:cNvSpPr/>
      </dsp:nvSpPr>
      <dsp:spPr>
        <a:xfrm>
          <a:off x="1971077" y="3816830"/>
          <a:ext cx="2724677" cy="163480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Environment </a:t>
          </a:r>
        </a:p>
      </dsp:txBody>
      <dsp:txXfrm>
        <a:off x="1971077" y="3816830"/>
        <a:ext cx="2724677" cy="1634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CD5B4-33D9-42E5-AFC5-DAD65804C555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AC374-3118-429D-9CF7-B5CDF98C7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02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https://www.bbc.co.uk/ethics/introduction/intro_1.shtml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3B2BE-0358-4D93-AC98-B7058B69DA2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726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9DC4-6F69-CE69-F790-E520CAA2D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371DB-4766-84A3-E691-06EF62B99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460DE-7747-F113-DB84-8487AA38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F691-0FB4-D58F-F50B-70F331991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3A7C2-1353-E4D4-7FBE-9CA8EDEE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9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6F2C-0C27-3F0C-5E0A-C5FD5029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800F3-371D-4337-DB30-28ABE5F1B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0BFD0-0D82-9A88-1AEF-56C88954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937F2-DCA9-9915-7286-3739EDAE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36C2C-E967-1587-B9F5-874A0EAC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788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8BF0-D7FA-ECC8-D234-368542C4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F33CE-626B-E979-CAF2-00D3D1FB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FFF19-32BB-9C5A-A89D-C411C46D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E614F-E514-D8AB-93B4-7DECA412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C06EF-2C47-EE79-79F4-0FA698D1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24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EF43-7BA0-0F4B-A584-9E0CD2B05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960B0-1B92-C708-6862-081347E72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C6314-A1BC-9DDE-E84B-94DE1A977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AF727-B8E8-FA5F-BEDC-3A60AF2B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F1058-550E-E386-D35F-6D049596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8805E-0D19-D16D-4902-60F7D5A7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94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BE7F-C028-F5F4-6680-8F1F00F6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39208-4C96-EB0E-F830-04D5B08CD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B80D2-083D-2276-BB27-401EF021C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01CB9-021E-D326-5CC6-E7202DCCB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2B949-9C52-1C77-3E0D-D70E66E77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FB8DE-40BE-061C-3824-EA09192D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AB6174-4B12-D340-88A9-2A955C87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F8729-0D7F-8B36-04D6-CD40FEF2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29D-C5DD-DB39-426D-48FFEEE8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8ACC5F-935B-515D-E9E9-93952FC7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58622-0541-9FFF-F439-18B044E0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ECCBB-0022-DAD1-259B-6BFA2DE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55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0D190-D5E2-46BA-7854-C999A52A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2508C-5B4A-60D6-D316-ECCFC19F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D7F08-FD81-E21D-85F7-1143447F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44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B3BE-B286-421B-2E91-0AD15652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0E8A-A1AE-A641-DA70-69EAEF578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92AD5-59E5-A8C7-1939-4F9A92A0F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531BF-24E1-C776-A0D5-6BAD441A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C2852-5C39-5ABE-DDB2-4A1E2FD7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5FB05-2B92-A714-55FD-C7CB0075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44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A9ACB-116D-211E-51F7-A9AB8323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ECB8E-D9B1-CA23-A29D-F6D6D0D33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6252D-495F-A5EC-026F-B2AFEF6C4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7935C-4AB3-15AE-B911-A40BE548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0444D-4EB9-4221-8A20-D0B81C1D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AAE3A-D558-A201-E32C-8326343F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2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E903-B50D-5BAA-5D80-40FF0CF8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48958-42BD-6003-FA1C-BEF872BB5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3C096-2559-EA49-D6FC-C7D44B25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D30E9-458D-EAE5-AAFE-44D2A3CA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54DC6-2390-B447-213B-2268950D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08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539C97-AEE3-C9FD-019F-02AE2B83D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60654-A878-335B-6A80-6404D200A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24A5A-A73B-7B53-BF2E-B799F191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0FEBB-784E-B1E6-43C1-7474BF4B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DB5E8-930E-BE88-4665-21B9E16A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223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AE53-882D-99CF-C466-A7221A77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A2898-C259-2E1A-DBAC-E58A150F2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EC2AC-C8A6-D099-064B-03030B72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0A0E9-0319-CC7A-D15C-6B0CF8EC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67B65-9125-DE02-BA22-AE4D45A4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321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A098-BE68-D177-0026-2ACDED2E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4222D-BB60-3D92-DBE7-764A8BB4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0EF4-9C14-F90A-4F1D-B2ACB734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CD57E-6A49-F00E-F090-5858F088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96EDA-7FFD-96B0-EB0E-569F6375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388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438D-E466-AFF3-5E92-BB154060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55FAC-D3A2-E7E3-2F04-F6FB801DC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AD94C-259B-B596-6D65-A46543279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F90C-3DF0-3991-7A97-C9B798F6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26832-A17E-91EC-5220-3B9AB8D5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119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C9E9-9A0B-696D-B044-21A23BEA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2D7C-B042-9D7B-8F88-1C20039E2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306F8-921F-3F17-0F05-D67505D1B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A9B23-0807-216F-129F-D3031DE18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D6DFD-1A79-2A4B-7980-27B59018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C4672-29ED-33D0-CC1A-9D5F6026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954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0AAD-F723-06CE-3EDF-09D71708C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B4482-8C7E-BACF-BB38-2979D8496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624CF-555C-315E-C799-E82040847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A8C53-FFFC-DE92-7089-D55BD97BC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FDB94-5A16-B881-AF77-A81839417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A4EFA-665A-878F-FAA6-B35CA2F5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FC9DDC-BEB8-E9E0-E132-E3F9EEFA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00DC7-AFA2-9E4C-C5D8-85AC6EE4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42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5051-D686-53A5-52CD-98AA71F7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5F699-69B0-9697-CF24-358EF0EC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0FD9C-733F-4EDB-AAC0-025C1243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735E0-851B-44C1-6294-A85CC249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009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FB612-83A1-E6DE-BBF2-B420833E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08659-0067-43E0-C7E8-EFF59008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85DFE-40DC-5C81-51F8-E2F48A99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537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047A-7431-9DD4-DE8A-46F20312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FD864-69D1-A488-2412-C4558DD3C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E64AF-A49C-E4AB-10A7-1525ACF83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A2246-FA28-6AB0-17D5-A7EF6E76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D0FE7-A1C1-97E9-37D5-82ED573C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B689C-9C1C-2075-2E07-FCAEB9B2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797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39EF-6168-0544-BA8D-62AE5748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B7A50-2006-1330-A713-4D45327A3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A9320-C58C-6117-FF76-DB6B6EA51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A42F4-4CBC-AFE4-4B2F-83EDC613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6790-0FF0-767E-25C1-35406A03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25044-AB30-489D-7F82-04D41831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413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BA8E-1F85-F6CD-DA9D-A61907EB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5696A-060D-8713-B613-304E29A44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CC361-AFE0-EF1C-6ACC-A786F8E88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B036-B506-7621-115A-75C3546F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4D49D-A1A0-F01A-0A92-FA85D0D1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595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6963AC-3555-B001-CDE9-7FDA5F913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64738-749E-FB59-BECD-AC91BDC19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093C6-05DE-FE46-D392-BB70BE14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7F258-12E7-0F06-D80F-CB9E4D8D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F6552-A95F-EC55-70CC-2B10EA92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29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E514D4-B557-92FE-5982-D436ED0C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1ECF-B0F9-450B-5619-404D46ABD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F39CF-5A8A-8B61-B26E-3925BE53A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4C741-EEE8-4F0E-8396-641EC50D3A42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BF606-89EA-8B76-F426-240E1524B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65AEC-BF80-EFD3-DFC2-7EAB1FB29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4C839-757F-4890-9303-C89D2586A2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13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F4DD6-C432-B170-F8C1-BB01DB638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DF78D-6221-1753-DC6A-A0B53CD6B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B972C-3B2F-C52F-8B35-C1CB6E88A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BFFB3-FBC3-4494-8396-B23111F2D95C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C709B-0655-04FC-EAB2-2219EDD9E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E2857-C5BD-299E-1BFE-55D997FFE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91CC9-BBD6-4EC1-A0FF-2A5DD1FF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45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9787-FEEF-AD74-6280-A54FAAC3A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3546" y="2554348"/>
            <a:ext cx="4198189" cy="2387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Ethics, Ethical Framework, Moral Behaviour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9C3A04C-E14F-A401-B27A-713C51860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27" y="1247805"/>
            <a:ext cx="6283424" cy="452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9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8392-FBEB-05F6-D9BD-5DADF15D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3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Ethics?</a:t>
            </a:r>
            <a:endParaRPr lang="en-IN" b="1" dirty="0"/>
          </a:p>
        </p:txBody>
      </p:sp>
      <p:pic>
        <p:nvPicPr>
          <p:cNvPr id="1028" name="Picture 4" descr="Right And Wrong Thinking Stock Photos ...">
            <a:extLst>
              <a:ext uri="{FF2B5EF4-FFF2-40B4-BE49-F238E27FC236}">
                <a16:creationId xmlns:a16="http://schemas.microsoft.com/office/drawing/2014/main" id="{F8FADEF4-8E24-45B7-6AB5-EDB9F8FFDB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86" y="1274164"/>
            <a:ext cx="4557008" cy="452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68C50C-395D-8543-CE59-17B9B12F5C87}"/>
              </a:ext>
            </a:extLst>
          </p:cNvPr>
          <p:cNvSpPr txBox="1"/>
          <p:nvPr/>
        </p:nvSpPr>
        <p:spPr>
          <a:xfrm>
            <a:off x="5208797" y="712324"/>
            <a:ext cx="655569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0" i="0" dirty="0">
              <a:solidFill>
                <a:srgbClr val="424242"/>
              </a:solidFill>
              <a:effectLst/>
              <a:latin typeface="Verdana" panose="020B0604030504040204" pitchFamily="34" charset="0"/>
            </a:endParaRPr>
          </a:p>
          <a:p>
            <a:r>
              <a:rPr lang="en-US" sz="2800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At its simplest, ethics is a system of moral principles. They affect how people make decisions and lead their lives.</a:t>
            </a:r>
          </a:p>
          <a:p>
            <a:endParaRPr lang="en-US" sz="2800" b="1" dirty="0">
              <a:solidFill>
                <a:srgbClr val="424242"/>
              </a:solidFill>
              <a:latin typeface="Verdana" panose="020B0604030504040204" pitchFamily="34" charset="0"/>
            </a:endParaRPr>
          </a:p>
          <a:p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C229E-135A-04F2-663B-3857F74561B4}"/>
              </a:ext>
            </a:extLst>
          </p:cNvPr>
          <p:cNvSpPr txBox="1"/>
          <p:nvPr/>
        </p:nvSpPr>
        <p:spPr>
          <a:xfrm>
            <a:off x="5349933" y="3560353"/>
            <a:ext cx="64145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Verdana" panose="020B0604030504040204" pitchFamily="34" charset="0"/>
              </a:rPr>
              <a:t>Acceptable </a:t>
            </a:r>
            <a:r>
              <a:rPr lang="en-US" sz="24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behaviour</a:t>
            </a:r>
            <a:r>
              <a:rPr lang="en-US" sz="2400" b="1" dirty="0">
                <a:solidFill>
                  <a:srgbClr val="00B050"/>
                </a:solidFill>
                <a:latin typeface="Verdana" panose="020B060403050404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VS</a:t>
            </a:r>
            <a:r>
              <a:rPr lang="en-US" sz="2400" b="1" dirty="0">
                <a:solidFill>
                  <a:srgbClr val="00B050"/>
                </a:solidFill>
                <a:latin typeface="Verdana" panose="020B0604030504040204" pitchFamily="34" charset="0"/>
              </a:rPr>
              <a:t> Unacceptable </a:t>
            </a:r>
            <a:r>
              <a:rPr lang="en-US" sz="24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Behaviour</a:t>
            </a:r>
            <a:endParaRPr lang="en-US" sz="2400" b="1" dirty="0">
              <a:solidFill>
                <a:srgbClr val="00B050"/>
              </a:solidFill>
              <a:latin typeface="Verdana" panose="020B0604030504040204" pitchFamily="34" charset="0"/>
            </a:endParaRPr>
          </a:p>
          <a:p>
            <a:endParaRPr lang="en-US" sz="2400" b="1" dirty="0">
              <a:solidFill>
                <a:srgbClr val="00B050"/>
              </a:solidFill>
              <a:latin typeface="Verdana" panose="020B0604030504040204" pitchFamily="34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Verdana" panose="020B0604030504040204" pitchFamily="34" charset="0"/>
              </a:rPr>
              <a:t>Rights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VS</a:t>
            </a:r>
            <a:r>
              <a:rPr lang="en-US" sz="2400" b="1" dirty="0">
                <a:solidFill>
                  <a:srgbClr val="00B050"/>
                </a:solidFill>
                <a:latin typeface="Verdana" panose="020B0604030504040204" pitchFamily="34" charset="0"/>
              </a:rPr>
              <a:t> Wrong </a:t>
            </a:r>
          </a:p>
          <a:p>
            <a:endParaRPr lang="en-US" sz="2400" b="1" dirty="0">
              <a:solidFill>
                <a:srgbClr val="00B050"/>
              </a:solidFill>
              <a:latin typeface="Verdana" panose="020B0604030504040204" pitchFamily="34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Verdana" panose="020B0604030504040204" pitchFamily="34" charset="0"/>
              </a:rPr>
              <a:t>Obvious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VS</a:t>
            </a:r>
            <a:r>
              <a:rPr lang="en-US" sz="2400" b="1" dirty="0">
                <a:solidFill>
                  <a:srgbClr val="00B050"/>
                </a:solidFill>
                <a:latin typeface="Verdana" panose="020B0604030504040204" pitchFamily="34" charset="0"/>
              </a:rPr>
              <a:t> Debatable  </a:t>
            </a:r>
          </a:p>
          <a:p>
            <a:endParaRPr lang="en-US" b="1" dirty="0">
              <a:solidFill>
                <a:srgbClr val="424242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39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4157-CA10-4214-1851-EFFB178C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056"/>
          </a:xfrm>
        </p:spPr>
        <p:txBody>
          <a:bodyPr/>
          <a:lstStyle/>
          <a:p>
            <a:r>
              <a:rPr lang="en-US" dirty="0"/>
              <a:t>Meaning of Ethics: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24539-6087-F376-0058-E5E2C7138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419" y="1253331"/>
            <a:ext cx="10515600" cy="4351338"/>
          </a:xfrm>
        </p:spPr>
        <p:txBody>
          <a:bodyPr>
            <a:normAutofit/>
          </a:bodyPr>
          <a:lstStyle/>
          <a:p>
            <a:pPr marL="199390" marR="196850" indent="457200" algn="just">
              <a:lnSpc>
                <a:spcPct val="122000"/>
              </a:lnSpc>
              <a:spcBef>
                <a:spcPts val="103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word Ethics is derived from the </a:t>
            </a:r>
            <a:r>
              <a:rPr lang="en-US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Greek word ‘ethos’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which means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character or conduct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Ethics is also called moral philosophy or philosophical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thinking about morality. This morality has been further elaborated as action and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behaviour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concerned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‘good’</a:t>
            </a:r>
            <a:r>
              <a:rPr lang="en-US" b="1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b="1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‘evil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’,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particular</a:t>
            </a:r>
            <a:r>
              <a:rPr lang="en-US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traditions,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groups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 individual.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term</a:t>
            </a:r>
            <a:r>
              <a:rPr lang="en-US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‘moral’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‘ethical’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often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equivalent</a:t>
            </a:r>
            <a:r>
              <a:rPr lang="en-US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</a:t>
            </a:r>
            <a:r>
              <a:rPr lang="en-US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pc="-2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opposed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‘immoral’</a:t>
            </a:r>
            <a:r>
              <a:rPr lang="en-US" spc="-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‘unethical’.</a:t>
            </a:r>
            <a:r>
              <a:rPr lang="en-US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doesn’t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</a:t>
            </a:r>
            <a:r>
              <a:rPr lang="en-US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morally</a:t>
            </a:r>
            <a:r>
              <a:rPr lang="en-US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</a:t>
            </a:r>
            <a:r>
              <a:rPr lang="en-US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morally</a:t>
            </a:r>
            <a:r>
              <a:rPr lang="en-US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</a:t>
            </a:r>
            <a:r>
              <a:rPr lang="en-US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definitely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pertains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morality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631213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A2C58-46F4-C496-166C-390DF01C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4714"/>
          </a:xfrm>
        </p:spPr>
        <p:txBody>
          <a:bodyPr/>
          <a:lstStyle/>
          <a:p>
            <a:r>
              <a:rPr lang="en-IN" dirty="0"/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0AF8F-9AA6-C272-1456-6E61C12AF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47" y="1239840"/>
            <a:ext cx="11145254" cy="4351338"/>
          </a:xfrm>
        </p:spPr>
        <p:txBody>
          <a:bodyPr>
            <a:normAutofit/>
          </a:bodyPr>
          <a:lstStyle/>
          <a:p>
            <a:r>
              <a:rPr lang="en-IN" sz="2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Ethics is a </a:t>
            </a:r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branch of philosophy that is primarily concerned with </a:t>
            </a:r>
            <a:r>
              <a:rPr lang="en-IN" sz="2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questions pertaining to the good life</a:t>
            </a:r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Ethics deals with </a:t>
            </a:r>
            <a:r>
              <a:rPr lang="en-IN" sz="2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moral principles, values, and judgments</a:t>
            </a:r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that guide human behaviour and actions in order to achieve a </a:t>
            </a:r>
            <a:r>
              <a:rPr lang="en-IN" sz="2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good and fulfilling life</a:t>
            </a:r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explores concepts such as </a:t>
            </a:r>
            <a:r>
              <a:rPr lang="en-IN" sz="2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right and wrong, virtue, duty, and moral responsibility</a:t>
            </a:r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providing a framework for individuals to make </a:t>
            </a:r>
            <a:r>
              <a:rPr lang="en-IN" sz="2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ethical decisions</a:t>
            </a:r>
            <a:r>
              <a:rPr lang="en-IN" sz="2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live a morally upright life</a:t>
            </a:r>
            <a:r>
              <a:rPr lang="en-IN" sz="2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N" sz="22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200" dirty="0"/>
          </a:p>
        </p:txBody>
      </p:sp>
      <p:pic>
        <p:nvPicPr>
          <p:cNvPr id="4" name="Picture 3" descr="Ethics in Life and Business - Ethics in Life and Business - My Own Business  Institute - Learn How To Start a Business">
            <a:extLst>
              <a:ext uri="{FF2B5EF4-FFF2-40B4-BE49-F238E27FC236}">
                <a16:creationId xmlns:a16="http://schemas.microsoft.com/office/drawing/2014/main" id="{EC97367B-C9B5-F402-34D6-549084F6B7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918" y="4060502"/>
            <a:ext cx="3358164" cy="2432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92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0301-1BCF-8AFF-5E30-B5759F83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14DB-07D2-0DBE-0FDF-46AA6B8D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536948" cy="2870991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0070C0"/>
                </a:solidFill>
              </a:rPr>
              <a:t>What influences our Choices?</a:t>
            </a:r>
            <a:endParaRPr lang="en-IN" sz="4000" b="1" dirty="0">
              <a:solidFill>
                <a:srgbClr val="0070C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2B0DF0-BB99-BEDA-EC05-8AB4A6C173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597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F7E37-0F64-24B0-DCAD-EA0354FC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834" y="0"/>
            <a:ext cx="10515600" cy="53131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Why We need to Ethical Behave:</a:t>
            </a:r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Ethics guides you to tell the truth, keep up your promises or commitment.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honest and Responsible </a:t>
            </a:r>
          </a:p>
          <a:p>
            <a:pPr>
              <a:buFontTx/>
              <a:buChar char="-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Build your confidence and self esteem </a:t>
            </a:r>
          </a:p>
          <a:p>
            <a:pPr>
              <a:buFontTx/>
              <a:buChar char="-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Develop ethical leadership skills. </a:t>
            </a:r>
          </a:p>
          <a:p>
            <a:pPr>
              <a:buFontTx/>
              <a:buChar char="-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Ethical leaders place importance on honesty, justice and well-being of others.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Decision-making in everyday life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Developing long-term character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Fostering civic engagement and social responsibility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Promote respect for the rights, feelings, perspective of others.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69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2785-27F4-5910-BEC5-E2B112C6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Professional Ethics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C2D59-5F75-9350-CCF3-F4E07A0D8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Key Features of Professional Ethics: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Integrity</a:t>
            </a:r>
            <a:r>
              <a:rPr lang="en-US" dirty="0"/>
              <a:t> – Being honest and doing the right thing, even when no one is watching.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Accountability</a:t>
            </a:r>
            <a:r>
              <a:rPr lang="en-US" dirty="0"/>
              <a:t> – Taking responsibility for your actions and decisions.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Confidentiality</a:t>
            </a:r>
            <a:r>
              <a:rPr lang="en-US" dirty="0"/>
              <a:t> – Respecting and protecting private or sensitive information.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Competence</a:t>
            </a:r>
            <a:r>
              <a:rPr lang="en-US" dirty="0"/>
              <a:t> – Continuously improving your skills and delivering quality work.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Respect</a:t>
            </a:r>
            <a:r>
              <a:rPr lang="en-US" dirty="0"/>
              <a:t> – Treating clients, colleagues, and the public with dignity and fairness.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Objectivity</a:t>
            </a:r>
            <a:r>
              <a:rPr lang="en-US" dirty="0"/>
              <a:t> – Making decisions based on facts, not personal feelings or bias.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89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85D9-23EC-7367-C4EB-1D5E466D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Is Professional Ethics Important?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CAB84-74C0-6304-2665-118B0FFB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Builds </a:t>
            </a:r>
            <a:r>
              <a:rPr lang="en-US" b="1" dirty="0"/>
              <a:t>trust</a:t>
            </a:r>
            <a:r>
              <a:rPr lang="en-US" dirty="0"/>
              <a:t> between professionals and clients or society.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b="1" dirty="0"/>
              <a:t>consistency</a:t>
            </a:r>
            <a:r>
              <a:rPr lang="en-US" dirty="0"/>
              <a:t> and fairness in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</a:t>
            </a:r>
            <a:r>
              <a:rPr lang="en-US" b="1" dirty="0"/>
              <a:t>abuse of power</a:t>
            </a:r>
            <a:r>
              <a:rPr lang="en-US" dirty="0"/>
              <a:t>, corruption, and misconduct.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professionals navigate </a:t>
            </a:r>
            <a:r>
              <a:rPr lang="en-US" b="1" dirty="0"/>
              <a:t>ethical dilemmas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the </a:t>
            </a:r>
            <a:r>
              <a:rPr lang="en-US" b="1" dirty="0"/>
              <a:t>reputation</a:t>
            </a:r>
            <a:r>
              <a:rPr lang="en-US" dirty="0"/>
              <a:t> of a profession.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186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1384-792F-992C-9E61-FD05187B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by Profession: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C56F9-87CE-1319-B53F-E98B26AF9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Doctors</a:t>
            </a:r>
            <a:r>
              <a:rPr lang="en-US" dirty="0"/>
              <a:t>: Do no harm, respect patient privacy, obtain informed consent.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Teachers</a:t>
            </a:r>
            <a:r>
              <a:rPr lang="en-US" dirty="0"/>
              <a:t>: Be fair to all students, avoid favoritism, promote integrity.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Lawyers</a:t>
            </a:r>
            <a:r>
              <a:rPr lang="en-US" dirty="0"/>
              <a:t>: Defend clients within the bounds of the law, avoid conflicts of interest.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Engineers</a:t>
            </a:r>
            <a:r>
              <a:rPr lang="en-US" dirty="0"/>
              <a:t>: Ensure safety and sustainability, avoid negligence.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Researchers</a:t>
            </a:r>
            <a:r>
              <a:rPr lang="en-US" dirty="0"/>
              <a:t>: Report data truthfully, give proper credit, avoid plagiarism.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404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B62D-E801-2C6A-9032-D76A0AC7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Famous Quotes on Business Ethics &amp; Responsibilities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5FDA23-A602-D781-BC4C-E4A82755E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6018" y="1963550"/>
            <a:ext cx="4583502" cy="17525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D017D-A996-26EA-3331-2D9BDDE16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29" y="4420409"/>
            <a:ext cx="6182588" cy="16671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B2136-5222-83AB-12E3-B5D06F452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018" y="4096816"/>
            <a:ext cx="4583502" cy="16099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EE58122-E300-CC6F-E670-A0C8D72F8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29" y="2229041"/>
            <a:ext cx="6182588" cy="17052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3036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8AB5-7208-BAF3-DD7E-BCA9350C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How does an ethical framework shape your moral behavior?</a:t>
            </a:r>
            <a:endParaRPr lang="en-IN" sz="36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67E70-3B63-9BB6-E8D9-AEA2D7D4C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0170"/>
            <a:ext cx="10515599" cy="5062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1. Academic Integrity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find a copy of last year’s exam. Do you use it to cheat, or do you study it as a practice guide?”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 the last day of assignment submission, do you copy and submit his own work ? </a:t>
            </a:r>
          </a:p>
          <a:p>
            <a:pPr lvl="1"/>
            <a:endParaRPr lang="en-US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Highlight values like honesty, fairness, and respect for academic rules.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Plagiarism is wrong and cheating [Whether you copy or allowing others to copy] </a:t>
            </a:r>
          </a:p>
          <a:p>
            <a:pPr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97931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6EBC-1D50-E58C-322E-473310BD5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Responsibility in Group Work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AB2E52-0049-CF39-473F-ED51CA37B0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231582"/>
            <a:ext cx="11049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“In a group project, one member isn’t contributing. Do you cover for them or report honestly?”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latin typeface="Arial" panose="020B0604020202020204" pitchFamily="34" charset="0"/>
              </a:rPr>
              <a:t>In a group project, one member has contributed well, do you acknowledge?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responsibility, transparency, and teamwork ethics.</a:t>
            </a:r>
          </a:p>
        </p:txBody>
      </p:sp>
    </p:spTree>
    <p:extLst>
      <p:ext uri="{BB962C8B-B14F-4D97-AF65-F5344CB8AC3E}">
        <p14:creationId xmlns:p14="http://schemas.microsoft.com/office/powerpoint/2010/main" val="4061114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E2F2-3F56-4AE4-EC58-BAA89DE7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Digital Ethics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D084D2-F362-E4A9-C0A5-A7CAB18E9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4"/>
            <a:ext cx="1073844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“You’re part of a class WhatsApp group. Someone shares a private photo of a student.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you forward it, comment, or report it?”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Teaches digital responsibility and privacy awareness.</a:t>
            </a:r>
          </a:p>
        </p:txBody>
      </p:sp>
    </p:spTree>
    <p:extLst>
      <p:ext uri="{BB962C8B-B14F-4D97-AF65-F5344CB8AC3E}">
        <p14:creationId xmlns:p14="http://schemas.microsoft.com/office/powerpoint/2010/main" val="118810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2EB-6C0E-16B5-AEC7-EC9BED98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Using Resources Honestly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3946E4-36AB-BB8F-45FA-0C1F5596A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4"/>
            <a:ext cx="1079020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“You find a friend’s assignment that scored well.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you copy parts of it for your submission?”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</a:t>
            </a: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Discussion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Brings up plagiarism, respect for others’ work, and self-respect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40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62417-59BF-83B6-7806-E694259C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applying ethical frameworks</a:t>
            </a:r>
            <a:b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BBEA-98AD-437D-7E1E-1D630D1E5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Peer Pressure and Social Influence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Conflicts Between Personal and Social Ethics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40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748E-9433-42CA-114B-C6228CAE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SRM Institutional Code of Ethics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5CF82-4959-CD85-7A13-4D1B73CE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about the list of Ethical committees available in SRM</a:t>
            </a:r>
          </a:p>
          <a:p>
            <a:pPr lvl="1"/>
            <a:r>
              <a:rPr lang="en-US" dirty="0"/>
              <a:t>Institutional Ethics Committee (IEC)</a:t>
            </a:r>
          </a:p>
          <a:p>
            <a:pPr lvl="1"/>
            <a:r>
              <a:rPr lang="en-US" dirty="0"/>
              <a:t>Institutional Animal Ethics Committee (IAEC)</a:t>
            </a:r>
          </a:p>
          <a:p>
            <a:pPr lvl="1"/>
            <a:r>
              <a:rPr lang="en-US" dirty="0"/>
              <a:t>Institutional Bio Safety Committee (IBSC)</a:t>
            </a:r>
          </a:p>
          <a:p>
            <a:pPr lvl="1"/>
            <a:r>
              <a:rPr lang="en-US" dirty="0"/>
              <a:t>Chemical Waste Disposal Committee (CWDC)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Plagiarism Checks</a:t>
            </a:r>
            <a:r>
              <a:rPr lang="en-US" dirty="0"/>
              <a:t>: SRM deploys a software Turnitin Anti  Plagiarism Tool to deduct Students work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Pls see the pdf for </a:t>
            </a:r>
            <a:r>
              <a:rPr lang="en-US"/>
              <a:t>more details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111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864</Words>
  <Application>Microsoft Office PowerPoint</Application>
  <PresentationFormat>Widescreen</PresentationFormat>
  <Paragraphs>92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Times New Roman</vt:lpstr>
      <vt:lpstr>Verdana</vt:lpstr>
      <vt:lpstr>Office Theme</vt:lpstr>
      <vt:lpstr>1_Office Theme</vt:lpstr>
      <vt:lpstr>Ethics, Ethical Framework, Moral Behaviour</vt:lpstr>
      <vt:lpstr>What is Ethics?</vt:lpstr>
      <vt:lpstr>Meaning of Ethics: </vt:lpstr>
      <vt:lpstr>Ethics</vt:lpstr>
      <vt:lpstr>What influences our Choices?</vt:lpstr>
      <vt:lpstr>PowerPoint Presentation</vt:lpstr>
      <vt:lpstr>Professional Ethics </vt:lpstr>
      <vt:lpstr>Why Is Professional Ethics Important? </vt:lpstr>
      <vt:lpstr>Examples by Profession: </vt:lpstr>
      <vt:lpstr>Famous Quotes on Business Ethics &amp; Responsibilities </vt:lpstr>
      <vt:lpstr>How does an ethical framework shape your moral behavior?</vt:lpstr>
      <vt:lpstr>2. Responsibility in Group Work </vt:lpstr>
      <vt:lpstr>3. Digital Ethics </vt:lpstr>
      <vt:lpstr>4. Using Resources Honestly </vt:lpstr>
      <vt:lpstr>Challenges in applying ethical frameworks </vt:lpstr>
      <vt:lpstr>SRM Institutional Code of Ethics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sambath</dc:creator>
  <cp:lastModifiedBy>Subha Jayaram</cp:lastModifiedBy>
  <cp:revision>16</cp:revision>
  <dcterms:created xsi:type="dcterms:W3CDTF">2024-10-18T05:14:24Z</dcterms:created>
  <dcterms:modified xsi:type="dcterms:W3CDTF">2025-05-29T04:13:40Z</dcterms:modified>
</cp:coreProperties>
</file>