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72" r:id="rId5"/>
    <p:sldId id="273" r:id="rId6"/>
    <p:sldId id="274" r:id="rId7"/>
    <p:sldId id="268" r:id="rId8"/>
    <p:sldId id="271" r:id="rId9"/>
    <p:sldId id="258" r:id="rId10"/>
    <p:sldId id="259" r:id="rId11"/>
    <p:sldId id="260" r:id="rId12"/>
    <p:sldId id="261" r:id="rId13"/>
    <p:sldId id="267" r:id="rId14"/>
    <p:sldId id="262" r:id="rId15"/>
    <p:sldId id="277" r:id="rId16"/>
    <p:sldId id="280" r:id="rId17"/>
    <p:sldId id="278" r:id="rId18"/>
    <p:sldId id="263" r:id="rId19"/>
    <p:sldId id="264" r:id="rId20"/>
    <p:sldId id="265" r:id="rId21"/>
    <p:sldId id="266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04B77-6031-67AD-2DD1-D9348B61F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6BBA1-561E-F54F-0B1E-334254025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63624-4A4C-7767-D45D-FA5390C3E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5AAA-68FB-4BC1-9EF1-03A9BE874E5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9E3FE-D72C-3E88-E279-FF0AC6593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ED3AB-E31D-7376-2943-849D3344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EDBB-9C75-4543-8850-AD2C04106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090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3EDD-D45D-8948-E887-83AE0A7B7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9A1C2-2924-FBD9-03E6-C82308B7D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1B219-4B15-6FC3-A121-FBA7C853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5AAA-68FB-4BC1-9EF1-03A9BE874E5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C40D7-16F2-E95C-AF37-DD8E1D757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36872-A89E-7ADF-281C-245F6290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EDBB-9C75-4543-8850-AD2C04106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25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722E-28CD-83B9-7459-8C098ECF7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F14F5-7068-1469-6CAC-9FD67C0CF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A19F5-6F9E-EB3F-3DA8-564206558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5AAA-68FB-4BC1-9EF1-03A9BE874E5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58018-652A-0740-CE33-3C192A637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703C2-91E6-1532-908D-B71B0B97A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EDBB-9C75-4543-8850-AD2C04106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004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54F4-7037-A588-0772-B41CF4643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AAB9F-7768-E6A2-0922-F8EC865E8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FBC84-193E-9D1D-AB34-4276F0C69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DEC62-47AE-8339-6B39-3B907C365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5AAA-68FB-4BC1-9EF1-03A9BE874E5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0C103-03CF-28D0-C107-9E523F7AF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279AE-932A-6AF0-B3E7-1123D495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EDBB-9C75-4543-8850-AD2C04106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832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00188-E2ED-1573-5D6B-1BF380E32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504B9-F257-93AF-5ACC-5D86EA72D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DE5D2-BF3B-AAFE-3BD6-B3A368C21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85825-AA36-B043-3326-BB1889FE7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22770-78E3-177B-668D-6C0892F17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4444DC-1D25-D1B6-C2DC-0E1361CF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5AAA-68FB-4BC1-9EF1-03A9BE874E5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55A81A-F9DD-D7B6-CA68-022AEC614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00AA41-814C-F0F1-06D5-D04C9CAB6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EDBB-9C75-4543-8850-AD2C04106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655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4B207-57CC-A736-9590-C96DB75E8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B9BA8E-46B4-6EA4-DA35-DECAEC8F3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5AAA-68FB-4BC1-9EF1-03A9BE874E5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75045-315D-2FDF-0E2F-B5FE8D2D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123E4-A38A-9FDE-9C37-0EA01D55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EDBB-9C75-4543-8850-AD2C04106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44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1E7D7-822E-CE9B-E41D-5A95336FB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5AAA-68FB-4BC1-9EF1-03A9BE874E5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F32FA-9658-A4E0-F694-7DACAB6A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4451A-A815-84F3-B3B5-AAFCD235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EDBB-9C75-4543-8850-AD2C04106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893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37657-2AF4-83CF-3257-036978065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47280-13FE-8ACC-B735-F55CAA46D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DF229-46B0-3977-D53E-B06EA0E2F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779A8-1B43-CA03-5A0C-D282A5558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5AAA-68FB-4BC1-9EF1-03A9BE874E5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BEBC0-D928-6855-5B40-321379F7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CCADD-EBAE-EC68-B29D-36269FA3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EDBB-9C75-4543-8850-AD2C04106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35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ABE4-87C9-9AE6-1E18-EFE25EAA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327DD-58AB-F767-1EFA-07F92EF9B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3B0AF-0457-74F1-B18E-C989FB96E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1208F-5F8C-2707-C01D-AE2E13AC0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5AAA-68FB-4BC1-9EF1-03A9BE874E5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1B247-86D4-9180-AEDA-0E0990AC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86644-5135-BB9F-5373-9E196BE4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EDBB-9C75-4543-8850-AD2C04106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568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EDFE-86D4-E521-9017-5B10ED02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E59C9-6C1A-72BC-F268-808A44376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7928E-12E9-4DB1-CCD9-3AD9FDF5A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5AAA-68FB-4BC1-9EF1-03A9BE874E5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F68F-3A51-A0CE-6627-AF98B8BE7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F7F0F-0ED6-3BEE-6654-2B50DD87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EDBB-9C75-4543-8850-AD2C04106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6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31041D-58CD-D98E-A9EF-9D7C86FD5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56C52-9597-F77C-9E4D-38A6E20E3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384A8-4EAF-86C0-22D0-1A2C58F5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C5AAA-68FB-4BC1-9EF1-03A9BE874E5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9AB50-1E83-B471-2F53-74DF0006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9D90D-6818-6B4B-EAEA-65FFAE07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EDBB-9C75-4543-8850-AD2C04106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28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97DAA6-95CD-5D4A-7CCE-528E3BC8B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5FD6F-169D-10F1-0143-046CFC303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9F09E-69C7-1454-B77F-6F404AE80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C5AAA-68FB-4BC1-9EF1-03A9BE874E57}" type="datetimeFigureOut">
              <a:rPr lang="en-IN" smtClean="0"/>
              <a:t>03-05-2025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20DB6-3458-9409-E581-CF0BEB631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8B147-9AD2-1499-6A34-5F47AECB58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FEDBB-9C75-4543-8850-AD2C04106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23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3DC5-D819-ECC0-0B16-86691397BC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78" y="1092493"/>
            <a:ext cx="9144000" cy="2387600"/>
          </a:xfrm>
        </p:spPr>
        <p:txBody>
          <a:bodyPr/>
          <a:lstStyle/>
          <a:p>
            <a:r>
              <a:rPr lang="en-IN" dirty="0"/>
              <a:t>Personality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08F34-F0B7-E5B9-6F36-C6344A26A7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Personality - Free people icons">
            <a:extLst>
              <a:ext uri="{FF2B5EF4-FFF2-40B4-BE49-F238E27FC236}">
                <a16:creationId xmlns:a16="http://schemas.microsoft.com/office/drawing/2014/main" id="{364E4075-A409-F4BA-CBC1-57FAB4034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978" y="970547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584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0A49F-9489-BC10-BE77-CB6C0004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579" y="147135"/>
            <a:ext cx="10515600" cy="1325563"/>
          </a:xfrm>
        </p:spPr>
        <p:txBody>
          <a:bodyPr/>
          <a:lstStyle/>
          <a:p>
            <a:r>
              <a:rPr lang="en-IN" dirty="0"/>
              <a:t>What is personality?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3324B-076F-4CAA-616E-C58DAFE0E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36" y="1208646"/>
            <a:ext cx="11306527" cy="8861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“Personality” derived from Latin word ‘</a:t>
            </a:r>
            <a:r>
              <a:rPr lang="en-US" sz="20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</a:t>
            </a:r>
            <a:r>
              <a:rPr lang="en-US" sz="20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endParaRPr lang="en-US" sz="2000" b="0" i="0" dirty="0">
              <a:solidFill>
                <a:srgbClr val="21212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 remains fairly </a:t>
            </a:r>
            <a:r>
              <a:rPr lang="en-US" sz="2000" b="1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consistent</a:t>
            </a:r>
            <a:r>
              <a:rPr lang="en-US" sz="20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throughout life.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848A6B-91A4-E918-47AB-08E044D4A879}"/>
              </a:ext>
            </a:extLst>
          </p:cNvPr>
          <p:cNvSpPr txBox="1">
            <a:spLocks/>
          </p:cNvSpPr>
          <p:nvPr/>
        </p:nvSpPr>
        <p:spPr>
          <a:xfrm>
            <a:off x="206115" y="2289554"/>
            <a:ext cx="11306527" cy="8861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Popular definition</a:t>
            </a:r>
            <a:r>
              <a:rPr lang="en-US" sz="20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Social values - </a:t>
            </a:r>
            <a:r>
              <a:rPr lang="en-US" sz="2000" b="0" i="0" u="none" strike="noStrike" baseline="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person who is attractive and good looking, is liberal, easily mixes up in social situations and exhibits socially desirable characteristics</a:t>
            </a:r>
            <a:r>
              <a:rPr lang="en-US" sz="20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algn="l"/>
            <a:r>
              <a:rPr lang="en-US" sz="2000" b="1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Political definition</a:t>
            </a:r>
            <a:r>
              <a:rPr lang="en-US" sz="2000" dirty="0">
                <a:solidFill>
                  <a:srgbClr val="21212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2000" b="0" i="0" u="none" strike="noStrike" baseline="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charismatic, </a:t>
            </a:r>
            <a:r>
              <a:rPr lang="en-US" sz="2000" b="0" i="0" u="none" strike="noStrike" baseline="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attractive and represents the masses. </a:t>
            </a:r>
            <a:r>
              <a:rPr lang="en-IN" sz="20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IN" sz="2000" b="0" i="0" u="none" strike="noStrike" baseline="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resents himself in an </a:t>
            </a:r>
            <a:r>
              <a:rPr lang="en-US" sz="2000" b="0" i="0" u="none" strike="noStrike" baseline="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impressive manner at a public debate</a:t>
            </a:r>
          </a:p>
          <a:p>
            <a:pPr algn="l"/>
            <a:r>
              <a:rPr lang="en-US" sz="2000" b="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Biophysical definition </a:t>
            </a:r>
            <a:r>
              <a:rPr lang="en-US" sz="20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b="0" i="0" u="none" strike="noStrike" baseline="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organic internal element of a person, based on physique. Endomorphic being fat and fleshy, Mesomorphic being athletic in build with a lot of muscles, </a:t>
            </a:r>
            <a:r>
              <a:rPr lang="en-US" sz="20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000" b="0" i="0" u="none" strike="noStrike" baseline="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ctomorphic being thin and bony in build.</a:t>
            </a:r>
          </a:p>
          <a:p>
            <a:pPr algn="l"/>
            <a:r>
              <a:rPr lang="en-US" sz="2000" b="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Omnibus definition </a:t>
            </a:r>
            <a:r>
              <a:rPr lang="en-US" sz="20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b="0" i="0" u="none" strike="noStrike" baseline="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 total of all biological, innate dispositions, impulses, tendencies, appetites and instincts of the individual and the acquired dispositions and tendencies acquired by experiences</a:t>
            </a:r>
          </a:p>
          <a:p>
            <a:pPr algn="l"/>
            <a:r>
              <a:rPr lang="en-US" sz="2000" b="1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Integrative definition </a:t>
            </a:r>
            <a:r>
              <a:rPr lang="en-US" sz="200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b="0" i="0" u="none" strike="noStrike" baseline="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consistency in the </a:t>
            </a:r>
            <a:r>
              <a:rPr lang="en-US" sz="2000" b="0" i="0" u="none" strike="noStrike" baseline="0" dirty="0" err="1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2000" b="0" i="0" u="none" strike="noStrike" baseline="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an </a:t>
            </a:r>
            <a:r>
              <a:rPr lang="en-IN" sz="2000" b="0" i="0" u="none" strike="noStrike" baseline="0" dirty="0">
                <a:solidFill>
                  <a:srgbClr val="231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across different situations</a:t>
            </a:r>
          </a:p>
          <a:p>
            <a:r>
              <a:rPr lang="en-US" sz="2000" b="1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Psychological definition </a:t>
            </a:r>
            <a:r>
              <a:rPr lang="en-US" sz="20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pattern of characteristic thoughts, feelings, emotions, and </a:t>
            </a:r>
            <a:r>
              <a:rPr lang="en-US" sz="20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behaviours</a:t>
            </a:r>
            <a:r>
              <a:rPr lang="en-US" sz="20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that distinguishes one person from another and that persists over time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36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B4E0-3AC4-6A07-309E-71E299DD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6C602-EBFF-9773-B944-EBD40A2E6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Personality according to Amparo and Tuazon (1960) can be one of two things:</a:t>
            </a:r>
          </a:p>
          <a:p>
            <a:r>
              <a:rPr lang="en-IN" dirty="0"/>
              <a:t>One’s biggest asset leading to success</a:t>
            </a:r>
          </a:p>
          <a:p>
            <a:r>
              <a:rPr lang="en-IN" dirty="0"/>
              <a:t>One’s heaviest liability leading to failure </a:t>
            </a:r>
          </a:p>
        </p:txBody>
      </p:sp>
    </p:spTree>
    <p:extLst>
      <p:ext uri="{BB962C8B-B14F-4D97-AF65-F5344CB8AC3E}">
        <p14:creationId xmlns:p14="http://schemas.microsoft.com/office/powerpoint/2010/main" val="682864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A0D7C-8958-4A6D-25B3-D8DC0D32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45"/>
            <a:ext cx="10515600" cy="1325563"/>
          </a:xfrm>
        </p:spPr>
        <p:txBody>
          <a:bodyPr/>
          <a:lstStyle/>
          <a:p>
            <a:r>
              <a:rPr lang="en-IN" dirty="0"/>
              <a:t>Characteristics of personality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829B4-658D-23D0-06E6-C14BC4964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060" y="1161891"/>
            <a:ext cx="10990580" cy="4351338"/>
          </a:xfrm>
        </p:spPr>
        <p:txBody>
          <a:bodyPr>
            <a:noAutofit/>
          </a:bodyPr>
          <a:lstStyle/>
          <a:p>
            <a:pPr algn="l"/>
            <a:r>
              <a:rPr lang="en-IN" sz="1800" b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Psychophysical systems - </a:t>
            </a:r>
            <a:r>
              <a:rPr lang="en-IN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traits, emotions, intellect, temperament, character, and motives. </a:t>
            </a:r>
            <a:r>
              <a:rPr lang="en-US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All these elements are psychological but they are based in the neurology and endocrinology of the body (</a:t>
            </a:r>
            <a:r>
              <a:rPr lang="en-IN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physical aspects)</a:t>
            </a:r>
          </a:p>
          <a:p>
            <a:pPr algn="l"/>
            <a:r>
              <a:rPr lang="en-IN" sz="1800" b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Dynamic organisation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different elements of psychological </a:t>
            </a:r>
            <a:r>
              <a:rPr lang="en-US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system are independent but function in an interlocking manner and are subject </a:t>
            </a:r>
            <a:r>
              <a:rPr lang="en-IN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to change. Changes in the </a:t>
            </a:r>
            <a:r>
              <a:rPr lang="en-US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personality of all individuals do come as they enter new roles, responsibilities and </a:t>
            </a:r>
            <a:r>
              <a:rPr lang="en-IN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circumstances</a:t>
            </a:r>
          </a:p>
          <a:p>
            <a:pPr algn="l"/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Consistency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an individual behaves in the same way in different situations and </a:t>
            </a:r>
            <a:r>
              <a:rPr lang="en-US" sz="18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behavioural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consistency is found when same situation is repeated across time</a:t>
            </a:r>
          </a:p>
          <a:p>
            <a:pPr marL="0" indent="0" algn="l">
              <a:buNone/>
            </a:pPr>
            <a:r>
              <a:rPr lang="en-US" sz="18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Type “A” consistency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: situation and </a:t>
            </a:r>
            <a:r>
              <a:rPr lang="en-US" sz="18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remain same. Ex. a football player is asked to play match against team X and after 10 days he asked to play against the same team.</a:t>
            </a:r>
          </a:p>
          <a:p>
            <a:pPr marL="0" indent="0" algn="l">
              <a:buNone/>
            </a:pPr>
            <a:r>
              <a:rPr lang="en-US" sz="18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Type “B” consistency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: When the same </a:t>
            </a:r>
            <a:r>
              <a:rPr lang="en-US" sz="18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is repeated in two different situations. For example, a person appears for an interview before one selection board then he appears for interview for the same job before another board in </a:t>
            </a:r>
            <a:r>
              <a:rPr lang="en-IN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 final round.</a:t>
            </a:r>
          </a:p>
          <a:p>
            <a:pPr marL="0" indent="0" algn="l">
              <a:buNone/>
            </a:pPr>
            <a:r>
              <a:rPr lang="en-US" sz="18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Type “C” consistency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: When an individual is asked to behave differently in the same situation. For example, when an actor is asked to imitate different actors.</a:t>
            </a:r>
          </a:p>
          <a:p>
            <a:pPr marL="0" indent="0">
              <a:buNone/>
            </a:pPr>
            <a:r>
              <a:rPr lang="en-US" sz="1800" b="0" i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Type “D” consistency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: When a person behaves differently in different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situations, influenced by particular type of traits.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For example, a person treats his students differently as compared to his colleagues and parents.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397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1498B-9053-934D-15BB-CC55199DA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291465"/>
            <a:ext cx="11668760" cy="4351338"/>
          </a:xfrm>
        </p:spPr>
        <p:txBody>
          <a:bodyPr>
            <a:noAutofit/>
          </a:bodyPr>
          <a:lstStyle/>
          <a:p>
            <a:pPr algn="l"/>
            <a:r>
              <a:rPr lang="en-IN" sz="1800" b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Unique adjustment to environment -  </a:t>
            </a:r>
            <a:r>
              <a:rPr lang="en-US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experiences of every person are unique therefore their reaction to the environment is also unique</a:t>
            </a:r>
          </a:p>
          <a:p>
            <a:pPr algn="l"/>
            <a:r>
              <a:rPr lang="en-IN" sz="1800" b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Development of personality structure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ersonality development is the natural quality of a growing organism</a:t>
            </a:r>
          </a:p>
          <a:p>
            <a:pPr algn="l"/>
            <a:r>
              <a:rPr lang="en-IN" sz="1800" b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Consciousness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develops out of our interaction </a:t>
            </a:r>
            <a:r>
              <a:rPr lang="en-IN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with the environment. </a:t>
            </a:r>
            <a:r>
              <a:rPr lang="en-US" sz="1800" b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This interaction results in formation of concept of self. Self-concept means who we are and what we stand for.</a:t>
            </a:r>
          </a:p>
          <a:p>
            <a:pPr algn="l"/>
            <a:r>
              <a:rPr lang="en-IN" sz="1800" b="1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Potentiality for change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Factors affecting personality</a:t>
            </a:r>
          </a:p>
          <a:p>
            <a:pPr marL="0" indent="0">
              <a:buNone/>
            </a:pPr>
            <a:r>
              <a:rPr lang="en-US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Hereditary factors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Physique and physical health -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Traits of physical structure are largely received in inheritance</a:t>
            </a:r>
          </a:p>
          <a:p>
            <a:pPr algn="l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Endocrine system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– our glandular system: </a:t>
            </a:r>
            <a:r>
              <a:rPr lang="en-IN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Pituitary gland, Adrenal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gland, Thyroid gland, Pancreas, Sex gland.</a:t>
            </a:r>
          </a:p>
          <a:p>
            <a:pPr algn="l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Nervous system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– Ex. </a:t>
            </a:r>
            <a:r>
              <a:rPr lang="en-IN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maldevelopment in hippocampus - deficits in short term memory.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 person with more complex and developed nervous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system has greater level of intellectual capabilities, and is considered more able to </a:t>
            </a:r>
            <a:r>
              <a:rPr lang="en-IN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adjust with different situations.</a:t>
            </a:r>
          </a:p>
          <a:p>
            <a:pPr marL="0" indent="0" algn="l">
              <a:buNone/>
            </a:pPr>
            <a:r>
              <a:rPr lang="en-IN" sz="1800" b="1" u="sng" dirty="0">
                <a:latin typeface="Arial" panose="020B0604020202020204" pitchFamily="34" charset="0"/>
                <a:cs typeface="Arial" panose="020B0604020202020204" pitchFamily="34" charset="0"/>
              </a:rPr>
              <a:t>Environmental factors</a:t>
            </a:r>
          </a:p>
          <a:p>
            <a:pPr algn="l"/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Social factors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social conditions, social institutions, social acceptance – family, birth order, school, marriage, religion, peer groups, neighbourhood</a:t>
            </a:r>
          </a:p>
          <a:p>
            <a:pPr algn="l"/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Cultural factors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– child rearing practices, </a:t>
            </a:r>
            <a:r>
              <a:rPr lang="en-IN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customs, traditions</a:t>
            </a:r>
          </a:p>
          <a:p>
            <a:pPr algn="l"/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Economic factors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affects </a:t>
            </a:r>
            <a:r>
              <a:rPr lang="en-US" sz="18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our attitude and perception and consequently our personality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182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4E39-DDA0-D249-7B3C-AD94D415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 of personality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A7272-217E-8DE2-8BAC-B57F373DE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Habits</a:t>
            </a:r>
            <a:r>
              <a:rPr lang="en-IN" dirty="0"/>
              <a:t> – reactions so often repeated as to become fixed characteristics or tendencies</a:t>
            </a:r>
          </a:p>
          <a:p>
            <a:r>
              <a:rPr lang="en-IN" b="1" dirty="0"/>
              <a:t>Attitudes</a:t>
            </a:r>
            <a:r>
              <a:rPr lang="en-IN" dirty="0"/>
              <a:t> -  certain ways of viewing things gained from the environment, changes by the working mind and imagination, and somewhat influenced by the physical environment, particularly emotions</a:t>
            </a:r>
          </a:p>
          <a:p>
            <a:r>
              <a:rPr lang="en-IN" b="1" dirty="0"/>
              <a:t>Physical traits </a:t>
            </a:r>
            <a:r>
              <a:rPr lang="en-IN" dirty="0"/>
              <a:t>– facial appearance, height, weight, physical defects, complexion, strength, health</a:t>
            </a:r>
          </a:p>
          <a:p>
            <a:r>
              <a:rPr lang="en-IN" b="1" dirty="0"/>
              <a:t>Mental traits </a:t>
            </a:r>
            <a:r>
              <a:rPr lang="en-IN" dirty="0"/>
              <a:t>– our ability to control the mind</a:t>
            </a:r>
          </a:p>
          <a:p>
            <a:r>
              <a:rPr lang="en-IN" b="1" dirty="0"/>
              <a:t>Emotional traits </a:t>
            </a:r>
            <a:r>
              <a:rPr lang="en-IN" dirty="0"/>
              <a:t>– individual’s capacity to face different situations in life and still maintain his/her composure</a:t>
            </a:r>
          </a:p>
          <a:p>
            <a:r>
              <a:rPr lang="en-IN" b="1" dirty="0"/>
              <a:t>Social traits </a:t>
            </a:r>
            <a:r>
              <a:rPr lang="en-IN" dirty="0"/>
              <a:t>– individual’s ability to get along with others</a:t>
            </a:r>
          </a:p>
          <a:p>
            <a:r>
              <a:rPr lang="en-IN" b="1" dirty="0"/>
              <a:t>Moral and religious traits </a:t>
            </a:r>
            <a:r>
              <a:rPr lang="en-IN" dirty="0"/>
              <a:t>– standards for a person’s actions and behaviours. Moral traits manifested by conduct. Religious traits guide actions according to beliefs.</a:t>
            </a:r>
          </a:p>
        </p:txBody>
      </p:sp>
    </p:spTree>
    <p:extLst>
      <p:ext uri="{BB962C8B-B14F-4D97-AF65-F5344CB8AC3E}">
        <p14:creationId xmlns:p14="http://schemas.microsoft.com/office/powerpoint/2010/main" val="2604441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167B-14D6-2A6E-6D89-7C7E9DCC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Theories of Personality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D43FA-C2D0-D50A-574F-3DEC1BF45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Psychoanalytic Theory </a:t>
            </a:r>
            <a:r>
              <a:rPr lang="en-IN" dirty="0"/>
              <a:t>(Sigmund Freud): Personality is shaped by unconscious desires (id, ego, superego).</a:t>
            </a:r>
          </a:p>
          <a:p>
            <a:r>
              <a:rPr lang="en-IN" b="1" dirty="0"/>
              <a:t>Trait Theory </a:t>
            </a:r>
            <a:r>
              <a:rPr lang="en-IN" dirty="0"/>
              <a:t>(Big Five Model): Personality consists of five major traits (OCEAN – Openness, Conscientiousness, Extraversion, Agreeableness, Neuroticism).</a:t>
            </a:r>
          </a:p>
          <a:p>
            <a:r>
              <a:rPr lang="en-IN" b="1" dirty="0"/>
              <a:t>Social Learning Theory </a:t>
            </a:r>
            <a:r>
              <a:rPr lang="en-IN" dirty="0"/>
              <a:t>(Bandura): Personality develops through social interactions and observations.</a:t>
            </a:r>
          </a:p>
          <a:p>
            <a:r>
              <a:rPr lang="en-IN" b="1" dirty="0"/>
              <a:t>Humanistic Theory </a:t>
            </a:r>
            <a:r>
              <a:rPr lang="en-IN" dirty="0"/>
              <a:t>(Carl Rogers, Maslow): Personality is shaped by self-growth and </a:t>
            </a:r>
            <a:r>
              <a:rPr lang="en-IN" dirty="0" err="1"/>
              <a:t>fulfillment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633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5B371-7D9B-32D8-3E0F-FE662D1BC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CE9C1B-15A9-F482-C649-4591FB580A4E}"/>
              </a:ext>
            </a:extLst>
          </p:cNvPr>
          <p:cNvSpPr txBox="1">
            <a:spLocks/>
          </p:cNvSpPr>
          <p:nvPr/>
        </p:nvSpPr>
        <p:spPr>
          <a:xfrm>
            <a:off x="878923" y="369656"/>
            <a:ext cx="114857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Big Five Personality traits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BF916C8-E5C6-833A-CC56-25F61352FA2D}"/>
              </a:ext>
            </a:extLst>
          </p:cNvPr>
          <p:cNvSpPr txBox="1">
            <a:spLocks/>
          </p:cNvSpPr>
          <p:nvPr/>
        </p:nvSpPr>
        <p:spPr>
          <a:xfrm>
            <a:off x="878923" y="1869508"/>
            <a:ext cx="10515600" cy="18159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Openness to Experience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Conscientiousness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Extraversion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Agreeableness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Neuroticism (emotionality)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03F21-390C-8225-4E1D-B9C3F9C5A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824" y="1464312"/>
            <a:ext cx="6841958" cy="262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460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B283D-A82F-016C-A5F1-5CEF36E79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1" y="1690688"/>
            <a:ext cx="112900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Openness to experience</a:t>
            </a:r>
            <a:r>
              <a:rPr lang="en-US" sz="2400" b="1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 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Inventive/Curious vs. Consistent/Cautious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person's accepted level of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imagination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includes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multiple experiences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like appreciating art, experiencing various emotions and taking up adventurous ideas. Someone who is inventive and curious is likely to have a more active intellectual thought process and multiple/different ways of dealing with a situation or problem.</a:t>
            </a:r>
          </a:p>
          <a:p>
            <a:pPr marL="0" indent="0">
              <a:buNone/>
            </a:pPr>
            <a:r>
              <a:rPr lang="en-US" sz="2400" b="1" i="1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Conscientiousness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Efficient/ Organized vs. Easy-going/ Careless 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planned and organized approach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rather than spontaneity and randomness. A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'structured' person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puts great value on order and control which reflects a way of approaching tasks. A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'low structured' person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has a more relaxed and casual approach to life. 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10463D-8223-0C32-A505-8564D66F8678}"/>
              </a:ext>
            </a:extLst>
          </p:cNvPr>
          <p:cNvSpPr txBox="1">
            <a:spLocks/>
          </p:cNvSpPr>
          <p:nvPr/>
        </p:nvSpPr>
        <p:spPr>
          <a:xfrm>
            <a:off x="878923" y="369656"/>
            <a:ext cx="114857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Big Five Personality traits</a:t>
            </a:r>
          </a:p>
        </p:txBody>
      </p:sp>
    </p:spTree>
    <p:extLst>
      <p:ext uri="{BB962C8B-B14F-4D97-AF65-F5344CB8AC3E}">
        <p14:creationId xmlns:p14="http://schemas.microsoft.com/office/powerpoint/2010/main" val="2290290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6C05D-2350-7337-09BB-5B544444E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Extraversion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Outgoing/Energetic vs. Solitary/Reserved</a:t>
            </a:r>
            <a:endParaRPr lang="en-US" sz="24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mplies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energy, positive emotions, forcefulness, friendliness, and chattiness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extrovert person is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sociable, outgoing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attracted to others. However, extroverts can be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impulsive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sometimes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take risks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without weighing the odds. 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Contrarily, an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introvert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less concerned with others and is more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inward-looking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Generally, they have a moderate outlook and a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cautious approach 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work, but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lack excitement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Introverts </a:t>
            </a:r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 not want to be 'in charge' nor do they seek limelight</a:t>
            </a:r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More often, their attitude is one of a personal challenge (the inner game), rather than competition with others.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8D819A-2DC2-9BBD-7056-9CE026817008}"/>
              </a:ext>
            </a:extLst>
          </p:cNvPr>
          <p:cNvSpPr txBox="1">
            <a:spLocks/>
          </p:cNvSpPr>
          <p:nvPr/>
        </p:nvSpPr>
        <p:spPr>
          <a:xfrm>
            <a:off x="838200" y="400843"/>
            <a:ext cx="114857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Big Five Personality traits</a:t>
            </a:r>
          </a:p>
        </p:txBody>
      </p:sp>
    </p:spTree>
    <p:extLst>
      <p:ext uri="{BB962C8B-B14F-4D97-AF65-F5344CB8AC3E}">
        <p14:creationId xmlns:p14="http://schemas.microsoft.com/office/powerpoint/2010/main" val="1815951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51594-4013-F520-15A0-D9526C3F1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1069474"/>
            <a:ext cx="10916920" cy="50058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Agreeableness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 Friendly/Compassionate vs. Cold/Unkind </a:t>
            </a:r>
          </a:p>
          <a:p>
            <a:pPr marL="0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ability to show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compassion and co-operation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It is a personality trait that can help you be an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amicable person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Giving a cold shoulder to people you encounter on a regular basis may not go down well and may hamper your work and progress in the long and short run.</a:t>
            </a:r>
          </a:p>
          <a:p>
            <a:pPr marL="0" indent="0">
              <a:buNone/>
            </a:pPr>
            <a:r>
              <a:rPr lang="en-US" sz="22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Neuroticism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 Sensitive/Nervous vs. Secure/Confident</a:t>
            </a:r>
          </a:p>
          <a:p>
            <a:pPr marL="0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refers to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emotional stability, control over emotions and impulses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 tendency for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anger, nervousness, despair, or susceptibility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Those with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self-confidence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are relaxed, optimistic, enjoy responsibility and like to be tested.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Under pressure, they react calmly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and in an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organized way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and have faith in their coping ability. At work/study, they can deal with unexpected events easily, and present their views confidently. Those with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low confidence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or emotional instability, have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difficulty coping with stress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While they can assume responsibility, they may find it to be a strain. They also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question their abilities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show pessimism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At workplace/ study, they like predictability and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avoid complex, open-ended situations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It suggests that routine jobs in large, supportive organizations are more likely to suit them.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DD1622-FDBF-77D8-42D2-8263AB47D6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Big Five Personality traits</a:t>
            </a:r>
          </a:p>
        </p:txBody>
      </p:sp>
    </p:spTree>
    <p:extLst>
      <p:ext uri="{BB962C8B-B14F-4D97-AF65-F5344CB8AC3E}">
        <p14:creationId xmlns:p14="http://schemas.microsoft.com/office/powerpoint/2010/main" val="2659378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385E3-EC1A-C7A4-BFEB-014C400A9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Personality development depends 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1053C-2856-0437-EA2B-7A3A72F25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35640" cy="435133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Self-awareness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Clarity of personal and professional goals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Sincere efforts to learn necessary skills and remove weaknesses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Character and conduct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Self-confidence, will-power and self-discipline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Positive thinking and good moral values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Duty, responsibility and accountability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Acceptance of others' feedback, especially criticism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442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2634E-4860-B202-C88B-0DB58FEB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Importance of studying personality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848F5-927A-D6C3-3812-B6E160E21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843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Helps in understanding human behavior and social interactions.</a:t>
            </a:r>
          </a:p>
          <a:p>
            <a:r>
              <a:rPr lang="en-US" dirty="0"/>
              <a:t>Aids in personal growth</a:t>
            </a:r>
          </a:p>
          <a:p>
            <a:r>
              <a:rPr lang="en-US" dirty="0"/>
              <a:t>Aids in academic performance (Personality traits can influence how individuals learn and approach academic tasks. For example, conscientiousness is linked to academic achievement, while neuroticism may hinder it)</a:t>
            </a:r>
          </a:p>
          <a:p>
            <a:r>
              <a:rPr lang="en-US" dirty="0"/>
              <a:t>Motivation to remain engaged in learning</a:t>
            </a:r>
          </a:p>
          <a:p>
            <a:r>
              <a:rPr lang="en-US" dirty="0"/>
              <a:t>Develop effective time management and organizational skills</a:t>
            </a:r>
          </a:p>
          <a:p>
            <a:r>
              <a:rPr lang="en-US" dirty="0"/>
              <a:t>Plays a key role in mental health and well-being – self-awareness, resilience, adaptability, </a:t>
            </a:r>
          </a:p>
          <a:p>
            <a:r>
              <a:rPr lang="en-US" dirty="0"/>
              <a:t>Facilitates effective communication, relationships, emotional intelligence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2276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B0AA-4998-274B-D252-B4DCDB485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92920" cy="1325563"/>
          </a:xfrm>
        </p:spPr>
        <p:txBody>
          <a:bodyPr>
            <a:normAutofit/>
          </a:bodyPr>
          <a:lstStyle/>
          <a:p>
            <a:r>
              <a:rPr lang="en-US" sz="2800" b="1" dirty="0"/>
              <a:t>ABCD personality types – by cardiologists Meyer Friedman and Ray Rosenman 1950s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5E517-D8FA-A39F-7574-956E600B3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Type A</a:t>
            </a:r>
            <a:r>
              <a:rPr lang="en-US" dirty="0"/>
              <a:t>: Perfectionist, competitive, ambitious, impatient, work-obsessed, achievement-oriented, aggressive, stressed</a:t>
            </a:r>
          </a:p>
          <a:p>
            <a:pPr marL="0" indent="0">
              <a:buNone/>
            </a:pPr>
            <a:r>
              <a:rPr lang="en-US" b="1" dirty="0"/>
              <a:t>Type B</a:t>
            </a:r>
            <a:r>
              <a:rPr lang="en-US" dirty="0"/>
              <a:t>: Relaxed, even-tempered, flexible, creative, more reflective, adaptable to change, patient, tendency to procrastinate, low stress</a:t>
            </a:r>
          </a:p>
          <a:p>
            <a:pPr marL="0" indent="0">
              <a:buNone/>
            </a:pPr>
            <a:r>
              <a:rPr lang="en-US" b="1" dirty="0"/>
              <a:t>Type C</a:t>
            </a:r>
            <a:r>
              <a:rPr lang="en-US" dirty="0"/>
              <a:t>: Highly conscientious, perfectionist, detail-oriented struggles to reveal emotions (positive and negative), passive, prone to stress</a:t>
            </a:r>
          </a:p>
          <a:p>
            <a:pPr marL="0" indent="0">
              <a:buNone/>
            </a:pPr>
            <a:r>
              <a:rPr lang="en-US" b="1" dirty="0"/>
              <a:t>Type D</a:t>
            </a:r>
            <a:r>
              <a:rPr lang="en-US" dirty="0"/>
              <a:t>: Worrying, sad, irritable, distressed, pessimistic, negative self-talk, avoidance of social situations, lack of self-confidence, fear of rejection, appears gloomy, hopeless, socially inhibited</a:t>
            </a:r>
            <a:endParaRPr lang="en-IN" dirty="0"/>
          </a:p>
        </p:txBody>
      </p:sp>
      <p:pic>
        <p:nvPicPr>
          <p:cNvPr id="2050" name="Picture 2" descr="Happy - Free people icons">
            <a:extLst>
              <a:ext uri="{FF2B5EF4-FFF2-40B4-BE49-F238E27FC236}">
                <a16:creationId xmlns:a16="http://schemas.microsoft.com/office/drawing/2014/main" id="{82798D42-5E78-9E82-59B8-C426605EF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7680" y="1195230"/>
            <a:ext cx="1158240" cy="115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120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4F59-F222-7A71-3F13-FF8A32CE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0" i="0" dirty="0">
                <a:solidFill>
                  <a:srgbClr val="231F20"/>
                </a:solidFill>
                <a:effectLst/>
                <a:latin typeface="Proxima Nova"/>
              </a:rPr>
              <a:t>Myers-Briggs Type Indicator (MBTI) 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985-1E5B-D60F-776E-9A862E0D5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560" y="1825625"/>
            <a:ext cx="11379200" cy="4351338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231F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Katharine Cook Briggs and her daughter, Isabel Briggs Myers, created the MBTI. They were not psychologists but writers interested in Carl Jung’s theory of psychological types.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Energy: the amount of energy a person has for socializing. Extroverted (E), Introverted (I),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Perception: how people prefer to get their information. Sensing (S), Intuitive (N)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Decisions: whether a person relies more on Thinking (T) or Feeling (F)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Orientation: how people prefer to live on a scale from Judging (J) to Perceiving (P).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859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09033B6-0F34-4ECC-12E3-399FB09751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39"/>
          <a:stretch/>
        </p:blipFill>
        <p:spPr bwMode="auto">
          <a:xfrm>
            <a:off x="1634966" y="477520"/>
            <a:ext cx="8434387" cy="552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2739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0C1A-2029-B9DF-0C57-E9B2A83CF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D7615-249E-0092-D8F1-A2DD8AC1A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E098B-4FFE-B687-FDF4-13B3F9021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830" y="218440"/>
            <a:ext cx="7630339" cy="642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86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A7F5-BB67-D24C-E649-67AF8AEC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17505" cy="1325563"/>
          </a:xfrm>
        </p:spPr>
        <p:txBody>
          <a:bodyPr/>
          <a:lstStyle/>
          <a:p>
            <a:r>
              <a:rPr lang="en-IN" dirty="0"/>
              <a:t>Impact of socialization on the development of an individual’s personality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089A7-BE6C-9637-A102-66FADBD38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81084" cy="466725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Learning social norms and values</a:t>
            </a:r>
            <a:endParaRPr lang="en-IN" b="1" dirty="0"/>
          </a:p>
          <a:p>
            <a:pPr marL="0" indent="0">
              <a:buNone/>
            </a:pPr>
            <a:r>
              <a:rPr lang="en-US" dirty="0"/>
              <a:t>Socialization </a:t>
            </a:r>
            <a:r>
              <a:rPr lang="en-US" b="1" dirty="0"/>
              <a:t>teaches individuals the norms, values, and rules of society</a:t>
            </a:r>
            <a:r>
              <a:rPr lang="en-US" dirty="0"/>
              <a:t>, which shape their personality. Through interaction with </a:t>
            </a:r>
            <a:r>
              <a:rPr lang="en-US" b="1" dirty="0"/>
              <a:t>family, peers, and institutions</a:t>
            </a:r>
            <a:r>
              <a:rPr lang="en-US" dirty="0"/>
              <a:t>, individuals learn </a:t>
            </a:r>
            <a:r>
              <a:rPr lang="en-US" b="1" dirty="0"/>
              <a:t>acceptable behaviors, attitudes, and cultural expectations</a:t>
            </a:r>
            <a:r>
              <a:rPr lang="en-US" dirty="0"/>
              <a:t>. This helps in the </a:t>
            </a:r>
            <a:r>
              <a:rPr lang="en-US" b="1" dirty="0"/>
              <a:t>formation of traits </a:t>
            </a:r>
            <a:r>
              <a:rPr lang="en-US" dirty="0"/>
              <a:t>like empathy, responsibility, and respect for others.</a:t>
            </a:r>
          </a:p>
          <a:p>
            <a:r>
              <a:rPr lang="en-US" b="1" dirty="0"/>
              <a:t>Role of family</a:t>
            </a:r>
          </a:p>
          <a:p>
            <a:pPr marL="0" indent="0">
              <a:buNone/>
            </a:pPr>
            <a:r>
              <a:rPr lang="en-US" dirty="0"/>
              <a:t>Family is the </a:t>
            </a:r>
            <a:r>
              <a:rPr lang="en-US" b="1" dirty="0"/>
              <a:t>primary agent </a:t>
            </a:r>
            <a:r>
              <a:rPr lang="en-US" dirty="0"/>
              <a:t>of socialization, especially in </a:t>
            </a:r>
            <a:r>
              <a:rPr lang="en-US" b="1" dirty="0"/>
              <a:t>early childhood</a:t>
            </a:r>
            <a:r>
              <a:rPr lang="en-US" dirty="0"/>
              <a:t>. Parents and caregivers shape a child’s </a:t>
            </a:r>
            <a:r>
              <a:rPr lang="en-US" b="1" dirty="0"/>
              <a:t>emotional and social foundations </a:t>
            </a:r>
            <a:r>
              <a:rPr lang="en-US" dirty="0"/>
              <a:t>through their interactions, communication styles, and behaviors. For instance, a supportive and loving environment may lead to the development of a secure and confident personality, while a neglectful environment may result in low self-esteem or insecurity.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5F2B0-9674-A1E8-60C6-93A8CC078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705" y="365124"/>
            <a:ext cx="1325564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76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A7F5-BB67-D24C-E649-67AF8AEC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81674" cy="1325563"/>
          </a:xfrm>
        </p:spPr>
        <p:txBody>
          <a:bodyPr/>
          <a:lstStyle/>
          <a:p>
            <a:r>
              <a:rPr lang="en-IN" dirty="0"/>
              <a:t>Impact of socialization on the development of an individual’s personality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089A7-BE6C-9637-A102-66FADBD38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81084" cy="466725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Influence of peer groups</a:t>
            </a:r>
          </a:p>
          <a:p>
            <a:pPr marL="0" indent="0">
              <a:buNone/>
            </a:pPr>
            <a:r>
              <a:rPr lang="en-US" dirty="0"/>
              <a:t>Peer groups influence personality during </a:t>
            </a:r>
            <a:r>
              <a:rPr lang="en-US" b="1" dirty="0"/>
              <a:t>adolescence</a:t>
            </a:r>
            <a:r>
              <a:rPr lang="en-US" dirty="0"/>
              <a:t>, a critical period of </a:t>
            </a:r>
            <a:r>
              <a:rPr lang="en-US" b="1" dirty="0"/>
              <a:t>identity formation</a:t>
            </a:r>
            <a:r>
              <a:rPr lang="en-US" dirty="0"/>
              <a:t>. Through interaction with peers, individuals develop </a:t>
            </a:r>
            <a:r>
              <a:rPr lang="en-US" b="1" dirty="0"/>
              <a:t>social skills, self-concept, and self-identity</a:t>
            </a:r>
            <a:r>
              <a:rPr lang="en-US" dirty="0"/>
              <a:t>. They also experience </a:t>
            </a:r>
            <a:r>
              <a:rPr lang="en-US" b="1" dirty="0"/>
              <a:t>social comparison</a:t>
            </a:r>
            <a:r>
              <a:rPr lang="en-US" dirty="0"/>
              <a:t>, which can </a:t>
            </a:r>
            <a:r>
              <a:rPr lang="en-US" b="1" dirty="0"/>
              <a:t>influence traits</a:t>
            </a:r>
            <a:r>
              <a:rPr lang="en-US" dirty="0"/>
              <a:t> like self-confidence, competitiveness, and assertiveness.</a:t>
            </a:r>
          </a:p>
          <a:p>
            <a:r>
              <a:rPr lang="en-US" b="1" dirty="0"/>
              <a:t>Cultural and societal influences</a:t>
            </a:r>
          </a:p>
          <a:p>
            <a:pPr marL="0" indent="0">
              <a:buNone/>
            </a:pPr>
            <a:r>
              <a:rPr lang="en-US" dirty="0"/>
              <a:t>Culture plays a significant role in shaping personality by providing a framework for </a:t>
            </a:r>
            <a:r>
              <a:rPr lang="en-US" b="1" dirty="0"/>
              <a:t>interpreting experiences</a:t>
            </a:r>
            <a:r>
              <a:rPr lang="en-US" dirty="0"/>
              <a:t>. Cultural beliefs and practices determine what is considered </a:t>
            </a:r>
            <a:r>
              <a:rPr lang="en-US" b="1" dirty="0"/>
              <a:t>“normal” behavior</a:t>
            </a:r>
            <a:r>
              <a:rPr lang="en-US" dirty="0"/>
              <a:t>, influencing traits like individualism or collectivism, independence or dependence, and emotional expression.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 descr="Friends - Free people icons">
            <a:extLst>
              <a:ext uri="{FF2B5EF4-FFF2-40B4-BE49-F238E27FC236}">
                <a16:creationId xmlns:a16="http://schemas.microsoft.com/office/drawing/2014/main" id="{B6A8242A-28FB-FC25-B361-D330E36E2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9874" y="118562"/>
            <a:ext cx="1572126" cy="157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753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A7F5-BB67-D24C-E649-67AF8AEC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73126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Impact of socialization on the development of an individual’s personality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089A7-BE6C-9637-A102-66FADBD38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81084" cy="4667250"/>
          </a:xfrm>
        </p:spPr>
        <p:txBody>
          <a:bodyPr>
            <a:normAutofit/>
          </a:bodyPr>
          <a:lstStyle/>
          <a:p>
            <a:r>
              <a:rPr lang="en-US" b="1" dirty="0"/>
              <a:t>Education and Institutions</a:t>
            </a:r>
          </a:p>
          <a:p>
            <a:pPr marL="0" indent="0">
              <a:buNone/>
            </a:pPr>
            <a:r>
              <a:rPr lang="en-US" dirty="0"/>
              <a:t>Schools and other institutions contribute to personality development by teaching </a:t>
            </a:r>
            <a:r>
              <a:rPr lang="en-US" b="1" dirty="0"/>
              <a:t>discipline, teamwork, critical thinking, and problem-solving</a:t>
            </a:r>
            <a:r>
              <a:rPr lang="en-US" dirty="0"/>
              <a:t>. Education fosters </a:t>
            </a:r>
            <a:r>
              <a:rPr lang="en-US" b="1" dirty="0"/>
              <a:t>intellectual growth</a:t>
            </a:r>
            <a:r>
              <a:rPr lang="en-US" dirty="0"/>
              <a:t> and </a:t>
            </a:r>
            <a:r>
              <a:rPr lang="en-US" b="1" dirty="0"/>
              <a:t>shapes values </a:t>
            </a:r>
            <a:r>
              <a:rPr lang="en-US" dirty="0"/>
              <a:t>like cooperation, responsibility, and leadership, which are essential aspects of personality.</a:t>
            </a:r>
          </a:p>
          <a:p>
            <a:r>
              <a:rPr lang="en-US" b="1" dirty="0"/>
              <a:t>Media and Technology</a:t>
            </a:r>
          </a:p>
          <a:p>
            <a:pPr marL="0" indent="0">
              <a:buNone/>
            </a:pPr>
            <a:r>
              <a:rPr lang="en-US" dirty="0"/>
              <a:t>Media, including television, social media, and the internet, has become a significant agent of socialization, influencing attitudes, beliefs, and behaviors. It can shape personality by exposing individuals to diverse ideas, role models, and lifestyles, impacting their worldview and aspirations.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 descr="Personality - Free people icons">
            <a:extLst>
              <a:ext uri="{FF2B5EF4-FFF2-40B4-BE49-F238E27FC236}">
                <a16:creationId xmlns:a16="http://schemas.microsoft.com/office/drawing/2014/main" id="{B1274BE3-99EA-5D1C-B073-71325126E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1326" y="502821"/>
            <a:ext cx="1187867" cy="118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236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A7F5-BB67-D24C-E649-67AF8AECB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Impact of socialization on the development of an individual’s personality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089A7-BE6C-9637-A102-66FADBD38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81084" cy="4667250"/>
          </a:xfrm>
        </p:spPr>
        <p:txBody>
          <a:bodyPr>
            <a:normAutofit/>
          </a:bodyPr>
          <a:lstStyle/>
          <a:p>
            <a:r>
              <a:rPr lang="en-US" b="1" dirty="0"/>
              <a:t>Life experiences and Social roles</a:t>
            </a:r>
          </a:p>
          <a:p>
            <a:pPr marL="0" indent="0">
              <a:buNone/>
            </a:pPr>
            <a:r>
              <a:rPr lang="en-US" dirty="0"/>
              <a:t>As individuals grow and take on </a:t>
            </a:r>
            <a:r>
              <a:rPr lang="en-US" b="1" dirty="0"/>
              <a:t>different roles in society </a:t>
            </a:r>
            <a:r>
              <a:rPr lang="en-US" dirty="0"/>
              <a:t>(e.g., student, employee, parent), their personality adapts to these roles. Positive or negative life experiences—such as achievements, failures, or traumas—can lead to changes in self-perception, confidence, and emotional resilience, further influencing personality development.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052" name="Picture 4" descr="Group Flaticons Flat icon | Freepik">
            <a:extLst>
              <a:ext uri="{FF2B5EF4-FFF2-40B4-BE49-F238E27FC236}">
                <a16:creationId xmlns:a16="http://schemas.microsoft.com/office/drawing/2014/main" id="{8979BF4C-A21D-8857-2749-D976A7F4F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6159" y="431365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801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31487-4E7D-AD64-2D90-CBB4F897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https://bigfive-test.com/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50D8A-B7A4-D87E-FD90-5E20F44F0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968" y="1690688"/>
            <a:ext cx="78414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32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2158</Words>
  <Application>Microsoft Office PowerPoint</Application>
  <PresentationFormat>Widescreen</PresentationFormat>
  <Paragraphs>115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Proxima Nova</vt:lpstr>
      <vt:lpstr>Office Theme</vt:lpstr>
      <vt:lpstr>Personality</vt:lpstr>
      <vt:lpstr>What is personality?</vt:lpstr>
      <vt:lpstr>PowerPoint Presentation</vt:lpstr>
      <vt:lpstr>Characteristics of personality</vt:lpstr>
      <vt:lpstr>PowerPoint Presentation</vt:lpstr>
      <vt:lpstr>Components of personality</vt:lpstr>
      <vt:lpstr>Theories of Personality</vt:lpstr>
      <vt:lpstr>PowerPoint Presentation</vt:lpstr>
      <vt:lpstr>PowerPoint Presentation</vt:lpstr>
      <vt:lpstr>PowerPoint Presentation</vt:lpstr>
      <vt:lpstr>Big Five Personality traits</vt:lpstr>
      <vt:lpstr>Personality development depends on</vt:lpstr>
      <vt:lpstr>Importance of studying personality</vt:lpstr>
      <vt:lpstr>ABCD personality types – by cardiologists Meyer Friedman and Ray Rosenman 1950s</vt:lpstr>
      <vt:lpstr>Myers-Briggs Type Indicator (MBTI) </vt:lpstr>
      <vt:lpstr>PowerPoint Presentation</vt:lpstr>
      <vt:lpstr>PowerPoint Presentation</vt:lpstr>
      <vt:lpstr>Impact of socialization on the development of an individual’s personality</vt:lpstr>
      <vt:lpstr>Impact of socialization on the development of an individual’s personality</vt:lpstr>
      <vt:lpstr>Impact of socialization on the development of an individual’s personality</vt:lpstr>
      <vt:lpstr>Impact of socialization on the development of an individual’s personality</vt:lpstr>
      <vt:lpstr>https://bigfive-test.com/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irene sambath</dc:creator>
  <cp:lastModifiedBy>author</cp:lastModifiedBy>
  <cp:revision>11</cp:revision>
  <dcterms:created xsi:type="dcterms:W3CDTF">2024-10-08T10:21:30Z</dcterms:created>
  <dcterms:modified xsi:type="dcterms:W3CDTF">2025-05-03T08:07:41Z</dcterms:modified>
</cp:coreProperties>
</file>